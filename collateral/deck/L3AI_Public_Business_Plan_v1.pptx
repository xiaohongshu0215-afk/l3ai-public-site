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e277e819fb4406" /><Relationship Type="http://schemas.openxmlformats.org/officeDocument/2006/relationships/extended-properties" Target="/docProps/app.xml" Id="R65c1261ec9064b7f" /><Relationship Type="http://schemas.openxmlformats.org/officeDocument/2006/relationships/officeDocument" Target="/ppt/presentation.xml" Id="R4bed8125ba1e46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01517319ec4a8c"/>
  </p:sldMasterIdLst>
  <p:notesMasterIdLst>
    <p:notesMasterId xmlns:r="http://schemas.openxmlformats.org/officeDocument/2006/relationships" r:id="R3bf9053252a44334"/>
  </p:notesMasterIdLst>
  <p:sldIdLst>
    <p:sldId xmlns:r="http://schemas.openxmlformats.org/officeDocument/2006/relationships" id="256" r:id="R1df0d886726f437e"/>
    <p:sldId xmlns:r="http://schemas.openxmlformats.org/officeDocument/2006/relationships" id="257" r:id="Rd365652c6f2b4f81"/>
    <p:sldId xmlns:r="http://schemas.openxmlformats.org/officeDocument/2006/relationships" id="258" r:id="R13c2bf5f2ac34536"/>
    <p:sldId xmlns:r="http://schemas.openxmlformats.org/officeDocument/2006/relationships" id="259" r:id="R43e0a13dbb87456c"/>
    <p:sldId xmlns:r="http://schemas.openxmlformats.org/officeDocument/2006/relationships" id="260" r:id="Rdbd8e92dca634aa1"/>
    <p:sldId xmlns:r="http://schemas.openxmlformats.org/officeDocument/2006/relationships" id="261" r:id="R7fad164a07904cda"/>
    <p:sldId xmlns:r="http://schemas.openxmlformats.org/officeDocument/2006/relationships" id="262" r:id="R2bb44d90d0a64765"/>
    <p:sldId xmlns:r="http://schemas.openxmlformats.org/officeDocument/2006/relationships" id="263" r:id="R4f700970762a4a03"/>
    <p:sldId xmlns:r="http://schemas.openxmlformats.org/officeDocument/2006/relationships" id="264" r:id="R2ada8d3df47c4aef"/>
    <p:sldId xmlns:r="http://schemas.openxmlformats.org/officeDocument/2006/relationships" id="265" r:id="R87f88ee945bb4409"/>
    <p:sldId xmlns:r="http://schemas.openxmlformats.org/officeDocument/2006/relationships" id="266" r:id="Re8adcaeb7af54a6a"/>
    <p:sldId xmlns:r="http://schemas.openxmlformats.org/officeDocument/2006/relationships" id="267" r:id="R5e3931dff99942a4"/>
    <p:sldId xmlns:r="http://schemas.openxmlformats.org/officeDocument/2006/relationships" id="268" r:id="Rd1d7bb110fad4be3"/>
    <p:sldId xmlns:r="http://schemas.openxmlformats.org/officeDocument/2006/relationships" id="269" r:id="Rdff7fa3648ed43b8"/>
    <p:sldId xmlns:r="http://schemas.openxmlformats.org/officeDocument/2006/relationships" id="270" r:id="R53278610d0d94aa0"/>
    <p:sldId xmlns:r="http://schemas.openxmlformats.org/officeDocument/2006/relationships" id="271" r:id="R4d4ab70275074dce"/>
    <p:sldId xmlns:r="http://schemas.openxmlformats.org/officeDocument/2006/relationships" id="272" r:id="R9f56d3e98d1d4c2a"/>
    <p:sldId xmlns:r="http://schemas.openxmlformats.org/officeDocument/2006/relationships" id="273" r:id="Rab965092bf214810"/>
    <p:sldId xmlns:r="http://schemas.openxmlformats.org/officeDocument/2006/relationships" id="274" r:id="R823bbdd47d64443c"/>
    <p:sldId xmlns:r="http://schemas.openxmlformats.org/officeDocument/2006/relationships" id="275" r:id="Rc319b05ffd8048d4"/>
    <p:sldId xmlns:r="http://schemas.openxmlformats.org/officeDocument/2006/relationships" id="276" r:id="Ra9f85cc0375c45a3"/>
    <p:sldId xmlns:r="http://schemas.openxmlformats.org/officeDocument/2006/relationships" id="277" r:id="R3ab997e67a3940fc"/>
    <p:sldId xmlns:r="http://schemas.openxmlformats.org/officeDocument/2006/relationships" id="278" r:id="Rb9e8e00ac789435a"/>
    <p:sldId xmlns:r="http://schemas.openxmlformats.org/officeDocument/2006/relationships" id="279" r:id="Rae9fcbdace284063"/>
    <p:sldId xmlns:r="http://schemas.openxmlformats.org/officeDocument/2006/relationships" id="280" r:id="R2b4f7c86ba0d4fad"/>
    <p:sldId xmlns:r="http://schemas.openxmlformats.org/officeDocument/2006/relationships" id="281" r:id="Rd3f88e512cf34b3b"/>
    <p:sldId xmlns:r="http://schemas.openxmlformats.org/officeDocument/2006/relationships" id="282" r:id="R793154c1bbe04e1e"/>
    <p:sldId xmlns:r="http://schemas.openxmlformats.org/officeDocument/2006/relationships" id="283" r:id="R13b90e5f3b1d44d1"/>
    <p:sldId xmlns:r="http://schemas.openxmlformats.org/officeDocument/2006/relationships" id="284" r:id="R1c1176fcb5294cba"/>
    <p:sldId xmlns:r="http://schemas.openxmlformats.org/officeDocument/2006/relationships" id="285" r:id="Rdbf7028ffbd74a6f"/>
    <p:sldId xmlns:r="http://schemas.openxmlformats.org/officeDocument/2006/relationships" id="286" r:id="Rd9bd7dd433854dc7"/>
    <p:sldId xmlns:r="http://schemas.openxmlformats.org/officeDocument/2006/relationships" id="287" r:id="R4d6946a4e19b4cc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0f700778704a34" /><Relationship Type="http://schemas.openxmlformats.org/officeDocument/2006/relationships/slideMaster" Target="/ppt/slideMasters/slideMaster1.xml" Id="R1e01517319ec4a8c" /><Relationship Type="http://schemas.openxmlformats.org/officeDocument/2006/relationships/notesMaster" Target="/ppt/notesMasters/notesMaster1.xml" Id="R3bf9053252a44334" /><Relationship Type="http://schemas.openxmlformats.org/officeDocument/2006/relationships/presProps" Target="/ppt/presProps.xml" Id="R825fb7b6022d4117" /><Relationship Type="http://schemas.openxmlformats.org/officeDocument/2006/relationships/tableStyles" Target="/ppt/tableStyles.xml" Id="R07c76de4d3494184" /><Relationship Type="http://schemas.openxmlformats.org/officeDocument/2006/relationships/slide" Target="/ppt/slides/slide1.xml" Id="R1df0d886726f437e" /><Relationship Type="http://schemas.openxmlformats.org/officeDocument/2006/relationships/slide" Target="/ppt/slides/slide2.xml" Id="Rd365652c6f2b4f81" /><Relationship Type="http://schemas.openxmlformats.org/officeDocument/2006/relationships/slide" Target="/ppt/slides/slide3.xml" Id="R13c2bf5f2ac34536" /><Relationship Type="http://schemas.openxmlformats.org/officeDocument/2006/relationships/slide" Target="/ppt/slides/slide4.xml" Id="R43e0a13dbb87456c" /><Relationship Type="http://schemas.openxmlformats.org/officeDocument/2006/relationships/slide" Target="/ppt/slides/slide5.xml" Id="Rdbd8e92dca634aa1" /><Relationship Type="http://schemas.openxmlformats.org/officeDocument/2006/relationships/slide" Target="/ppt/slides/slide6.xml" Id="R7fad164a07904cda" /><Relationship Type="http://schemas.openxmlformats.org/officeDocument/2006/relationships/slide" Target="/ppt/slides/slide7.xml" Id="R2bb44d90d0a64765" /><Relationship Type="http://schemas.openxmlformats.org/officeDocument/2006/relationships/slide" Target="/ppt/slides/slide8.xml" Id="R4f700970762a4a03" /><Relationship Type="http://schemas.openxmlformats.org/officeDocument/2006/relationships/slide" Target="/ppt/slides/slide9.xml" Id="R2ada8d3df47c4aef" /><Relationship Type="http://schemas.openxmlformats.org/officeDocument/2006/relationships/slide" Target="/ppt/slides/slide10.xml" Id="R87f88ee945bb4409" /><Relationship Type="http://schemas.openxmlformats.org/officeDocument/2006/relationships/slide" Target="/ppt/slides/slide11.xml" Id="Re8adcaeb7af54a6a" /><Relationship Type="http://schemas.openxmlformats.org/officeDocument/2006/relationships/slide" Target="/ppt/slides/slide12.xml" Id="R5e3931dff99942a4" /><Relationship Type="http://schemas.openxmlformats.org/officeDocument/2006/relationships/slide" Target="/ppt/slides/slide13.xml" Id="Rd1d7bb110fad4be3" /><Relationship Type="http://schemas.openxmlformats.org/officeDocument/2006/relationships/slide" Target="/ppt/slides/slide14.xml" Id="Rdff7fa3648ed43b8" /><Relationship Type="http://schemas.openxmlformats.org/officeDocument/2006/relationships/slide" Target="/ppt/slides/slide15.xml" Id="R53278610d0d94aa0" /><Relationship Type="http://schemas.openxmlformats.org/officeDocument/2006/relationships/slide" Target="/ppt/slides/slide16.xml" Id="R4d4ab70275074dce" /><Relationship Type="http://schemas.openxmlformats.org/officeDocument/2006/relationships/slide" Target="/ppt/slides/slide17.xml" Id="R9f56d3e98d1d4c2a" /><Relationship Type="http://schemas.openxmlformats.org/officeDocument/2006/relationships/slide" Target="/ppt/slides/slide18.xml" Id="Rab965092bf214810" /><Relationship Type="http://schemas.openxmlformats.org/officeDocument/2006/relationships/slide" Target="/ppt/slides/slide19.xml" Id="R823bbdd47d64443c" /><Relationship Type="http://schemas.openxmlformats.org/officeDocument/2006/relationships/slide" Target="/ppt/slides/slide20.xml" Id="Rc319b05ffd8048d4" /><Relationship Type="http://schemas.openxmlformats.org/officeDocument/2006/relationships/slide" Target="/ppt/slides/slide21.xml" Id="Ra9f85cc0375c45a3" /><Relationship Type="http://schemas.openxmlformats.org/officeDocument/2006/relationships/slide" Target="/ppt/slides/slide22.xml" Id="R3ab997e67a3940fc" /><Relationship Type="http://schemas.openxmlformats.org/officeDocument/2006/relationships/slide" Target="/ppt/slides/slide23.xml" Id="Rb9e8e00ac789435a" /><Relationship Type="http://schemas.openxmlformats.org/officeDocument/2006/relationships/slide" Target="/ppt/slides/slide24.xml" Id="Rae9fcbdace284063" /><Relationship Type="http://schemas.openxmlformats.org/officeDocument/2006/relationships/slide" Target="/ppt/slides/slide25.xml" Id="R2b4f7c86ba0d4fad" /><Relationship Type="http://schemas.openxmlformats.org/officeDocument/2006/relationships/slide" Target="/ppt/slides/slide26.xml" Id="Rd3f88e512cf34b3b" /><Relationship Type="http://schemas.openxmlformats.org/officeDocument/2006/relationships/slide" Target="/ppt/slides/slide27.xml" Id="R793154c1bbe04e1e" /><Relationship Type="http://schemas.openxmlformats.org/officeDocument/2006/relationships/slide" Target="/ppt/slides/slide28.xml" Id="R13b90e5f3b1d44d1" /><Relationship Type="http://schemas.openxmlformats.org/officeDocument/2006/relationships/slide" Target="/ppt/slides/slide29.xml" Id="R1c1176fcb5294cba" /><Relationship Type="http://schemas.openxmlformats.org/officeDocument/2006/relationships/slide" Target="/ppt/slides/slide30.xml" Id="Rdbf7028ffbd74a6f" /><Relationship Type="http://schemas.openxmlformats.org/officeDocument/2006/relationships/slide" Target="/ppt/slides/slide31.xml" Id="Rd9bd7dd433854dc7" /><Relationship Type="http://schemas.openxmlformats.org/officeDocument/2006/relationships/slide" Target="/ppt/slides/slide32.xml" Id="R4d6946a4e19b4c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02fe47e92c44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a8468d112942d2" /><Relationship Type="http://schemas.openxmlformats.org/officeDocument/2006/relationships/notesMaster" Target="/ppt/notesMasters/notesMaster1.xml" Id="Re683cd8307de42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643210c2144b25" /><Relationship Type="http://schemas.openxmlformats.org/officeDocument/2006/relationships/notesMaster" Target="/ppt/notesMasters/notesMaster1.xml" Id="R88372c83d34640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6da8bd4dfd45c3" /><Relationship Type="http://schemas.openxmlformats.org/officeDocument/2006/relationships/notesMaster" Target="/ppt/notesMasters/notesMaster1.xml" Id="R8abea4a721034d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4320a37e924085" /><Relationship Type="http://schemas.openxmlformats.org/officeDocument/2006/relationships/notesMaster" Target="/ppt/notesMasters/notesMaster1.xml" Id="R5a1c3b528b944e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5bafe1b9a348be" /><Relationship Type="http://schemas.openxmlformats.org/officeDocument/2006/relationships/notesMaster" Target="/ppt/notesMasters/notesMaster1.xml" Id="R9ce8dd5482ac48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e0ec3380414d72" /><Relationship Type="http://schemas.openxmlformats.org/officeDocument/2006/relationships/notesMaster" Target="/ppt/notesMasters/notesMaster1.xml" Id="R8217338c41864d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438055230c43e7" /><Relationship Type="http://schemas.openxmlformats.org/officeDocument/2006/relationships/notesMaster" Target="/ppt/notesMasters/notesMaster1.xml" Id="R4d61ab1435024a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a9362c75384d06" /><Relationship Type="http://schemas.openxmlformats.org/officeDocument/2006/relationships/notesMaster" Target="/ppt/notesMasters/notesMaster1.xml" Id="Rbd90c88cffb143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6eac985f154762" /><Relationship Type="http://schemas.openxmlformats.org/officeDocument/2006/relationships/notesMaster" Target="/ppt/notesMasters/notesMaster1.xml" Id="R69aaad4c817c42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1480e52a854c25" /><Relationship Type="http://schemas.openxmlformats.org/officeDocument/2006/relationships/notesMaster" Target="/ppt/notesMasters/notesMaster1.xml" Id="Rd8a3c3330fcb4a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562187f5e7f40b8" /><Relationship Type="http://schemas.openxmlformats.org/officeDocument/2006/relationships/notesMaster" Target="/ppt/notesMasters/notesMaster1.xml" Id="R2251138a3187420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552211171c4cfd" /><Relationship Type="http://schemas.openxmlformats.org/officeDocument/2006/relationships/notesMaster" Target="/ppt/notesMasters/notesMaster1.xml" Id="Rae53f8eb98ce408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72306ce0a7a4e50" /><Relationship Type="http://schemas.openxmlformats.org/officeDocument/2006/relationships/notesMaster" Target="/ppt/notesMasters/notesMaster1.xml" Id="Raad3e03ae7424e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2f981ebcbb24f54" /><Relationship Type="http://schemas.openxmlformats.org/officeDocument/2006/relationships/notesMaster" Target="/ppt/notesMasters/notesMaster1.xml" Id="R264b6880073c4c4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42c93fdec54424" /><Relationship Type="http://schemas.openxmlformats.org/officeDocument/2006/relationships/notesMaster" Target="/ppt/notesMasters/notesMaster1.xml" Id="R78ac8d9e39f1486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ef6e809291144d0" /><Relationship Type="http://schemas.openxmlformats.org/officeDocument/2006/relationships/notesMaster" Target="/ppt/notesMasters/notesMaster1.xml" Id="R4c046d5047a9456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7be9d74e9874713" /><Relationship Type="http://schemas.openxmlformats.org/officeDocument/2006/relationships/notesMaster" Target="/ppt/notesMasters/notesMaster1.xml" Id="Redd0f91939434bd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081e86ec07a4ae8" /><Relationship Type="http://schemas.openxmlformats.org/officeDocument/2006/relationships/notesMaster" Target="/ppt/notesMasters/notesMaster1.xml" Id="Re0171d78b8d44bc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004927fc6c245b0" /><Relationship Type="http://schemas.openxmlformats.org/officeDocument/2006/relationships/notesMaster" Target="/ppt/notesMasters/notesMaster1.xml" Id="Rd346df612bce457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4b3e744f43a416b" /><Relationship Type="http://schemas.openxmlformats.org/officeDocument/2006/relationships/notesMaster" Target="/ppt/notesMasters/notesMaster1.xml" Id="R5c5793f0582243a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caef7ce08c1476f" /><Relationship Type="http://schemas.openxmlformats.org/officeDocument/2006/relationships/notesMaster" Target="/ppt/notesMasters/notesMaster1.xml" Id="Rb78ba0e74fa1451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3cea3e381664fe1" /><Relationship Type="http://schemas.openxmlformats.org/officeDocument/2006/relationships/notesMaster" Target="/ppt/notesMasters/notesMaster1.xml" Id="Rf75aa676d254474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7b0806bac614e6d" /><Relationship Type="http://schemas.openxmlformats.org/officeDocument/2006/relationships/notesMaster" Target="/ppt/notesMasters/notesMaster1.xml" Id="R891732f474db485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ed0e66a1fcb4d8b" /><Relationship Type="http://schemas.openxmlformats.org/officeDocument/2006/relationships/notesMaster" Target="/ppt/notesMasters/notesMaster1.xml" Id="R6d73aed4fe67466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59ebd88c8ac4d53" /><Relationship Type="http://schemas.openxmlformats.org/officeDocument/2006/relationships/notesMaster" Target="/ppt/notesMasters/notesMaster1.xml" Id="Reba97d5bf95e483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9439d366ee44e85" /><Relationship Type="http://schemas.openxmlformats.org/officeDocument/2006/relationships/notesMaster" Target="/ppt/notesMasters/notesMaster1.xml" Id="R92b710f46e6f40b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e19d4542837485f" /><Relationship Type="http://schemas.openxmlformats.org/officeDocument/2006/relationships/notesMaster" Target="/ppt/notesMasters/notesMaster1.xml" Id="R7605f96b2e6648b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a312134165d4a6e" /><Relationship Type="http://schemas.openxmlformats.org/officeDocument/2006/relationships/notesMaster" Target="/ppt/notesMasters/notesMaster1.xml" Id="R456b326e258449c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fab824e400c4d7b" /><Relationship Type="http://schemas.openxmlformats.org/officeDocument/2006/relationships/notesMaster" Target="/ppt/notesMasters/notesMaster1.xml" Id="R24448622116d4a0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285904b1976432b" /><Relationship Type="http://schemas.openxmlformats.org/officeDocument/2006/relationships/notesMaster" Target="/ppt/notesMasters/notesMaster1.xml" Id="R43ae647f6ecf4b8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73dbe22d9c44b09" /><Relationship Type="http://schemas.openxmlformats.org/officeDocument/2006/relationships/notesMaster" Target="/ppt/notesMasters/notesMaster1.xml" Id="R4d2d5bab6d964f7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66ba9f852904159" /><Relationship Type="http://schemas.openxmlformats.org/officeDocument/2006/relationships/notesMaster" Target="/ppt/notesMasters/notesMaster1.xml" Id="R0f11b0fceb1142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framing L3AI as a public product and ecosystem deck, not a promise of financial results.</a:t>
            </a:r>
          </a:p>
          <a:p xmlns:a="http://schemas.openxmlformats.org/drawingml/2006/main">
            <a:r>
              <a:t>Customer, partner, media, and investor-style review</a:t>
            </a:r>
          </a:p>
          <a:p xmlns:a="http://schemas.openxmlformats.org/drawingml/2006/main">
            <a:r>
              <a:t>No investment advice, no guaranteed returns</a:t>
            </a:r>
          </a:p>
          <a:p xmlns:a="http://schemas.openxmlformats.org/drawingml/2006/main">
            <a:r>
              <a:t>Current capability and roadmap are clearly separated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why the business is positioned around trust, distribution readiness, and controlled growth.</a:t>
            </a:r>
          </a:p>
          <a:p xmlns:a="http://schemas.openxmlformats.org/drawingml/2006/main">
            <a:r>
              <a:t>AI adoption is rising, but public trust depends on clear product boundaries.</a:t>
            </a:r>
          </a:p>
          <a:p xmlns:a="http://schemas.openxmlformats.org/drawingml/2006/main">
            <a:r>
              <a:t>Wallet-aware and compute-oriented workflows need strong risk language.</a:t>
            </a:r>
          </a:p>
          <a:p xmlns:a="http://schemas.openxmlformats.org/drawingml/2006/main">
            <a:r>
              <a:t>L3AI packages product education, public resources, and operating controls into one launch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this is a controlled public narrative, not a raw internal architecture dump.</a:t>
            </a:r>
          </a:p>
          <a:p xmlns:a="http://schemas.openxmlformats.org/drawingml/2006/main">
            <a:r>
              <a:t>Current: public site, whitepaper, business deck, promo video, media resources.</a:t>
            </a:r>
          </a:p>
          <a:p xmlns:a="http://schemas.openxmlformats.org/drawingml/2006/main">
            <a:r>
              <a:t>Evidence-based: wallet-aware, compute-oriented, admin, API, content, and operations surfaces.</a:t>
            </a:r>
          </a:p>
          <a:p xmlns:a="http://schemas.openxmlformats.org/drawingml/2006/main">
            <a:r>
              <a:t>Roadmap: AI Universe, advanced governance, and ecosystem modules remain under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each surface at a high level and avoid exposing internal routes, repository details, or secrets.</a:t>
            </a:r>
          </a:p>
          <a:p xmlns:a="http://schemas.openxmlformats.org/drawingml/2006/main">
            <a:r>
              <a:t>Public web and content assets support onboarding and education.</a:t>
            </a:r>
          </a:p>
          <a:p xmlns:a="http://schemas.openxmlformats.org/drawingml/2006/main">
            <a:r>
              <a:t>API, admin, wallet-aware, and compute-oriented surfaces support controlled operations.</a:t>
            </a:r>
          </a:p>
          <a:p xmlns:a="http://schemas.openxmlformats.org/drawingml/2006/main">
            <a:r>
              <a:t>Community and AI modules create expansion paths once policy and release gates approve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 this to the website, FAQ, whitepaper, and resource center now live on GitHub Pages.</a:t>
            </a:r>
          </a:p>
          <a:p xmlns:a="http://schemas.openxmlformats.org/drawingml/2006/main">
            <a:r>
              <a:t>The user starts with public resources before any sensitive action.</a:t>
            </a:r>
          </a:p>
          <a:p xmlns:a="http://schemas.openxmlformats.org/drawingml/2006/main">
            <a:r>
              <a:t>Risk and FAQ language sets expectations early.</a:t>
            </a:r>
          </a:p>
          <a:p xmlns:a="http://schemas.openxmlformats.org/drawingml/2006/main">
            <a:r>
              <a:t>Review and support loops reduce confusion during launch.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clear that participation language is not a reward promise or solicitation.</a:t>
            </a:r>
          </a:p>
          <a:p xmlns:a="http://schemas.openxmlformats.org/drawingml/2006/main">
            <a:r>
              <a:t>Visitors need public education and FAQ clarity.</a:t>
            </a:r>
          </a:p>
          <a:p xmlns:a="http://schemas.openxmlformats.org/drawingml/2006/main">
            <a:r>
              <a:t>Community members need compliant engagement language.</a:t>
            </a:r>
          </a:p>
          <a:p xmlns:a="http://schemas.openxmlformats.org/drawingml/2006/main">
            <a:r>
              <a:t>Partners need media, website, and deck assets.</a:t>
            </a:r>
          </a:p>
          <a:p xmlns:a="http://schemas.openxmlformats.org/drawingml/2006/main">
            <a:r>
              <a:t>Operators need runbooks, approvals, and rollback controls.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intentionally cautious. It prevents public claims from outrunning approved business rules.</a:t>
            </a:r>
          </a:p>
          <a:p xmlns:a="http://schemas.openxmlformats.org/drawingml/2006/main">
            <a:r>
              <a:t>Public-safe framing: learning, verification, participation, contribution, governance readiness.</a:t>
            </a:r>
          </a:p>
          <a:p xmlns:a="http://schemas.openxmlformats.org/drawingml/2006/main">
            <a:r>
              <a:t>Not public without approval: exact rank criteria, reward formulas, payout logic, seasonal values.</a:t>
            </a:r>
          </a:p>
          <a:p xmlns:a="http://schemas.openxmlformats.org/drawingml/2006/main">
            <a:r>
              <a:t>All member-facing claims must match final legal and product policy.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revenue forecasts. Explain model levers rather than inventing metrics.</a:t>
            </a:r>
          </a:p>
          <a:p xmlns:a="http://schemas.openxmlformats.org/drawingml/2006/main">
            <a:r>
              <a:t>Platform access and product experience create the core relationship.</a:t>
            </a:r>
          </a:p>
          <a:p xmlns:a="http://schemas.openxmlformats.org/drawingml/2006/main">
            <a:r>
              <a:t>Content, media, and partner enablement support customer acquisition.</a:t>
            </a:r>
          </a:p>
          <a:p xmlns:a="http://schemas.openxmlformats.org/drawingml/2006/main">
            <a:r>
              <a:t>Enterprise or partner tooling can expand only where contracts and compliance approve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this as a model canvas, not a financial forecast.</a:t>
            </a:r>
          </a:p>
          <a:p xmlns:a="http://schemas.openxmlformats.org/drawingml/2006/main">
            <a:r>
              <a:t>Approved public language should stay at category level.</a:t>
            </a:r>
          </a:p>
          <a:p xmlns:a="http://schemas.openxmlformats.org/drawingml/2006/main">
            <a:r>
              <a:t>Any pricing, subscription, commission, referral, or token economics must match final policy.</a:t>
            </a:r>
          </a:p>
          <a:p xmlns:a="http://schemas.openxmlformats.org/drawingml/2006/main">
            <a:r>
              <a:t>Revenue model communication is gated by legal and product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compute as an access and workflow concept, not as a guaranteed earning mechanism.</a:t>
            </a:r>
          </a:p>
          <a:p xmlns:a="http://schemas.openxmlformats.org/drawingml/2006/main">
            <a:r>
              <a:t>Current narrative: compute-aware product surfaces and controls exist in the platform plan.</a:t>
            </a:r>
          </a:p>
          <a:p xmlns:a="http://schemas.openxmlformats.org/drawingml/2006/main">
            <a:r>
              <a:t>Approval-gated: public pricing, renewal windows, claim behavior, and benefit rules.</a:t>
            </a:r>
          </a:p>
          <a:p xmlns:a="http://schemas.openxmlformats.org/drawingml/2006/main">
            <a:r>
              <a:t>No public wording should imply guaranteed yield from compute access.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important because referral language can create compliance and abuse risk if overstated.</a:t>
            </a:r>
          </a:p>
          <a:p xmlns:a="http://schemas.openxmlformats.org/drawingml/2006/main">
            <a:r>
              <a:t>Approved framing: community education, invitation flows, support, and engagement.</a:t>
            </a:r>
          </a:p>
          <a:p xmlns:a="http://schemas.openxmlformats.org/drawingml/2006/main">
            <a:r>
              <a:t>Not approved for public claims: exact payout tables, rank multipliers, or guaranteed team earnings.</a:t>
            </a:r>
          </a:p>
          <a:p xmlns:a="http://schemas.openxmlformats.org/drawingml/2006/main">
            <a:r>
              <a:t>Anti-abuse rules and audit trails are part of the operating 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to keep AI ambition strong but legally safer.</a:t>
            </a:r>
          </a:p>
          <a:p xmlns:a="http://schemas.openxmlformats.org/drawingml/2006/main">
            <a:r>
              <a:t>Inputs: public context, user-selected data, and approved product content.</a:t>
            </a:r>
          </a:p>
          <a:p xmlns:a="http://schemas.openxmlformats.org/drawingml/2006/main">
            <a:r>
              <a:t>AI role: organize, explain, compare, and support review.</a:t>
            </a:r>
          </a:p>
          <a:p xmlns:a="http://schemas.openxmlformats.org/drawingml/2006/main">
            <a:r>
              <a:t>Guardrail: no promise of profit, no autonomous financial decision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high-level asset-flow map, not implementation documentation.</a:t>
            </a:r>
          </a:p>
          <a:p xmlns:a="http://schemas.openxmlformats.org/drawingml/2006/main">
            <a:r>
              <a:t>User-facing flows must show review before sensitive actions.</a:t>
            </a:r>
          </a:p>
          <a:p xmlns:a="http://schemas.openxmlformats.org/drawingml/2006/main">
            <a:r>
              <a:t>Asset records, callbacks, and ledgers need auditability and replay protection.</a:t>
            </a:r>
          </a:p>
          <a:p xmlns:a="http://schemas.openxmlformats.org/drawingml/2006/main">
            <a:r>
              <a:t>Public materials should not expose internal endpoints or raw wallet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concrete control categories without exposing exploit details.</a:t>
            </a:r>
          </a:p>
          <a:p xmlns:a="http://schemas.openxmlformats.org/drawingml/2006/main">
            <a:r>
              <a:t>Financial flows require idempotency, reconciliation, and evidence capture.</a:t>
            </a:r>
          </a:p>
          <a:p xmlns:a="http://schemas.openxmlformats.org/drawingml/2006/main">
            <a:r>
              <a:t>Marketing claims require legal, privacy, and owner approval.</a:t>
            </a:r>
          </a:p>
          <a:p xmlns:a="http://schemas.openxmlformats.org/drawingml/2006/main">
            <a:r>
              <a:t>Release execution requires gates, observability, and rollback owners.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deck's central ecosystem map. Keep it conceptual and public-safe.</a:t>
            </a:r>
          </a:p>
          <a:p xmlns:a="http://schemas.openxmlformats.org/drawingml/2006/main">
            <a:r>
              <a:t>The public layer creates trust and onboarding clarity.</a:t>
            </a:r>
          </a:p>
          <a:p xmlns:a="http://schemas.openxmlformats.org/drawingml/2006/main">
            <a:r>
              <a:t>The product layer provides controlled experiences and workflow surfaces.</a:t>
            </a:r>
          </a:p>
          <a:p xmlns:a="http://schemas.openxmlformats.org/drawingml/2006/main">
            <a:r>
              <a:t>The operations layer keeps release and review decisions traceable.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claim staging or production financial validation beyond what is evidenced.</a:t>
            </a:r>
          </a:p>
          <a:p xmlns:a="http://schemas.openxmlformats.org/drawingml/2006/main">
            <a:r>
              <a:t>Live public site and resource center are available through GitHub Pages.</a:t>
            </a:r>
          </a:p>
          <a:p xmlns:a="http://schemas.openxmlformats.org/drawingml/2006/main">
            <a:r>
              <a:t>Public whitepaper, business deck, promo video, media kit, FAQ, and asset manifest are prepared.</a:t>
            </a:r>
          </a:p>
          <a:p xmlns:a="http://schemas.openxmlformats.org/drawingml/2006/main">
            <a:r>
              <a:t>Release governance and audit language are documented without exposing private implementation details.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time horizon non-date-specific unless leadership approves launch dates.</a:t>
            </a:r>
          </a:p>
          <a:p xmlns:a="http://schemas.openxmlformats.org/drawingml/2006/main">
            <a:r>
              <a:t>Current: public launch materials and controlled distribution readiness.</a:t>
            </a:r>
          </a:p>
          <a:p xmlns:a="http://schemas.openxmlformats.org/drawingml/2006/main">
            <a:r>
              <a:t>Next: deeper product onboarding, localization, partner packaging, and release analytics.</a:t>
            </a:r>
          </a:p>
          <a:p xmlns:a="http://schemas.openxmlformats.org/drawingml/2006/main">
            <a:r>
              <a:t>Future: AI Universe modules, advanced governance, and ecosystem integrations after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ambition slide. Keep every module labeled as roadmap.</a:t>
            </a:r>
          </a:p>
          <a:p xmlns:a="http://schemas.openxmlformats.org/drawingml/2006/main">
            <a:r>
              <a:t>Roadmap modules may include AI education, scenario review, assistant-guided onboarding, and ecosystem navigation.</a:t>
            </a:r>
          </a:p>
          <a:p xmlns:a="http://schemas.openxmlformats.org/drawingml/2006/main">
            <a:r>
              <a:t>Module names, release order, and entitlements remain subject to product approval.</a:t>
            </a:r>
          </a:p>
          <a:p xmlns:a="http://schemas.openxmlformats.org/drawingml/2006/main">
            <a:r>
              <a:t>Public communication must label these as roadmap or under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 this back to why the Bridge workflow became event-driven.</a:t>
            </a:r>
          </a:p>
          <a:p xmlns:a="http://schemas.openxmlformats.org/drawingml/2006/main">
            <a:r>
              <a:t>Task tables, release matrices, manifests, and approval records create traceability.</a:t>
            </a:r>
          </a:p>
          <a:p xmlns:a="http://schemas.openxmlformats.org/drawingml/2006/main">
            <a:r>
              <a:t>Human approvals remain required for legal, privacy, security, and public readiness.</a:t>
            </a:r>
          </a:p>
          <a:p xmlns:a="http://schemas.openxmlformats.org/drawingml/2006/main">
            <a:r>
              <a:t>Completed work should not re-enter the default queue without a new task 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prevents accidental token marketing claims.</a:t>
            </a:r>
          </a:p>
          <a:p xmlns:a="http://schemas.openxmlformats.org/drawingml/2006/main">
            <a:r>
              <a:t>Safe now: ecosystem concept, governance intent, and public education.</a:t>
            </a:r>
          </a:p>
          <a:p xmlns:a="http://schemas.openxmlformats.org/drawingml/2006/main">
            <a:r>
              <a:t>Approval-gated: token mechanics, issuance, utility, pricing, reward value, and exchange language.</a:t>
            </a:r>
          </a:p>
          <a:p xmlns:a="http://schemas.openxmlformats.org/drawingml/2006/main">
            <a:r>
              <a:t>Never imply profit, listing certainty, or guaranteed asset appreciation.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operational readiness story, not a claim that every external channel has been auto-posted.</a:t>
            </a:r>
          </a:p>
          <a:p xmlns:a="http://schemas.openxmlformats.org/drawingml/2006/main">
            <a:r>
              <a:t>Manifest-driven assets make every public file traceable.</a:t>
            </a:r>
          </a:p>
          <a:p xmlns:a="http://schemas.openxmlformats.org/drawingml/2006/main">
            <a:r>
              <a:t>Manual workflow dispatch and approval gates reduce accidental publication risk.</a:t>
            </a:r>
          </a:p>
          <a:p xmlns:a="http://schemas.openxmlformats.org/drawingml/2006/main">
            <a:r>
              <a:t>Monitoring, incident handling, and rollback owners support safe rollout.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GTM practical and asset-driven.</a:t>
            </a:r>
          </a:p>
          <a:p xmlns:a="http://schemas.openxmlformats.org/drawingml/2006/main">
            <a:r>
              <a:t>Owned channels: GitHub Pages site, resource center, whitepaper, deck, video, FAQ.</a:t>
            </a:r>
          </a:p>
          <a:p xmlns:a="http://schemas.openxmlformats.org/drawingml/2006/main">
            <a:r>
              <a:t>Partner channels: media kit, press package, social payloads, and community explainers.</a:t>
            </a:r>
          </a:p>
          <a:p xmlns:a="http://schemas.openxmlformats.org/drawingml/2006/main">
            <a:r>
              <a:t>Growth loop: educate, answer, collect feedback, refine, and expand.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helps external conversations stay tailored without changing the underlying claims.</a:t>
            </a:r>
          </a:p>
          <a:p xmlns:a="http://schemas.openxmlformats.org/drawingml/2006/main">
            <a:r>
              <a:t>Customers get product clarity and safer onboarding language.</a:t>
            </a:r>
          </a:p>
          <a:p xmlns:a="http://schemas.openxmlformats.org/drawingml/2006/main">
            <a:r>
              <a:t>Partners get consistent assets and positioning.</a:t>
            </a:r>
          </a:p>
          <a:p xmlns:a="http://schemas.openxmlformats.org/drawingml/2006/main">
            <a:r>
              <a:t>Operators get release discipline and evidence trails.</a:t>
            </a:r>
          </a:p>
          <a:p xmlns:a="http://schemas.openxmlformats.org/drawingml/2006/main">
            <a:r>
              <a:t>Investor-style reviewers get a coherent model without unsupported financial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valuation, TAM numbers, revenue projections, or fundraising terms unless separately approved.</a:t>
            </a:r>
          </a:p>
          <a:p xmlns:a="http://schemas.openxmlformats.org/drawingml/2006/main">
            <a:r>
              <a:t>Product proof: public site, content system, collateral package, distribution manifests.</a:t>
            </a:r>
          </a:p>
          <a:p xmlns:a="http://schemas.openxmlformats.org/drawingml/2006/main">
            <a:r>
              <a:t>Commercial logic: access, subscription, services, partner and enterprise categories.</a:t>
            </a:r>
          </a:p>
          <a:p xmlns:a="http://schemas.openxmlformats.org/drawingml/2006/main">
            <a:r>
              <a:t>Risk posture: claim discipline, staged release, audit evidence, approval gates.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clear that these are suggested operating metrics, not current reported performance.</a:t>
            </a:r>
          </a:p>
          <a:p xmlns:a="http://schemas.openxmlformats.org/drawingml/2006/main">
            <a:r>
              <a:t>Awareness: resource views, downloads, video completions.</a:t>
            </a:r>
          </a:p>
          <a:p xmlns:a="http://schemas.openxmlformats.org/drawingml/2006/main">
            <a:r>
              <a:t>Activation: onboarding completion, FAQ resolution, support touchpoints.</a:t>
            </a:r>
          </a:p>
          <a:p xmlns:a="http://schemas.openxmlformats.org/drawingml/2006/main">
            <a:r>
              <a:t>Trust: approval cycle time, incident response, claim review defects.</a:t>
            </a:r>
          </a:p>
          <a:p xmlns:a="http://schemas.openxmlformats.org/drawingml/2006/main">
            <a:r>
              <a:t>Growth: partner leads, community participation, repeat engagement.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that public asset inventory helps confirm what is actually online.</a:t>
            </a:r>
          </a:p>
          <a:p xmlns:a="http://schemas.openxmlformats.org/drawingml/2006/main">
            <a:r>
              <a:t>Primary assets: whitepaper, business plan deck, promo video, FAQ, resource center.</a:t>
            </a:r>
          </a:p>
          <a:p xmlns:a="http://schemas.openxmlformats.org/drawingml/2006/main">
            <a:r>
              <a:t>Support assets: media kit, press kit, social images, manifests, sitemap.</a:t>
            </a:r>
          </a:p>
          <a:p xmlns:a="http://schemas.openxmlformats.org/drawingml/2006/main">
            <a:r>
              <a:t>Each tracked asset can be checksumed, linked, and reviewed.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roadmap phase-based unless the release manager approves exact dates.</a:t>
            </a:r>
          </a:p>
          <a:p xmlns:a="http://schemas.openxmlformats.org/drawingml/2006/main">
            <a:r>
              <a:t>Current: public resources, launch package, distribution readiness.</a:t>
            </a:r>
          </a:p>
          <a:p xmlns:a="http://schemas.openxmlformats.org/drawingml/2006/main">
            <a:r>
              <a:t>Next: product onboarding, community education, localization, partner enablement.</a:t>
            </a:r>
          </a:p>
          <a:p xmlns:a="http://schemas.openxmlformats.org/drawingml/2006/main">
            <a:r>
              <a:t>Future: AI Universe, advanced governance, ecosystem modules, deeper integrations.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be used whenever an audience jumps straight to yield or token questions.</a:t>
            </a:r>
          </a:p>
          <a:p xmlns:a="http://schemas.openxmlformats.org/drawingml/2006/main">
            <a:r>
              <a:t>Is L3AI financial advice? No. Public materials should not be read as investment advice.</a:t>
            </a:r>
          </a:p>
          <a:p xmlns:a="http://schemas.openxmlformats.org/drawingml/2006/main">
            <a:r>
              <a:t>Are roadmap modules live? No. Roadmap items are planned or under review.</a:t>
            </a:r>
          </a:p>
          <a:p xmlns:a="http://schemas.openxmlformats.org/drawingml/2006/main">
            <a:r>
              <a:t>Are returns guaranteed? No. Do not communicate guaranteed outcomes.</a:t>
            </a:r>
          </a:p>
          <a:p xmlns:a="http://schemas.openxmlformats.org/drawingml/2006/main">
            <a:r>
              <a:t>Can partners use these materials? Yes, with approved public links and current versions.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compliance spine of the public deck.</a:t>
            </a:r>
          </a:p>
          <a:p xmlns:a="http://schemas.openxmlformats.org/drawingml/2006/main">
            <a:r>
              <a:t>No private repository links, local paths, secrets, internal task labels, or exploit details.</a:t>
            </a:r>
          </a:p>
          <a:p xmlns:a="http://schemas.openxmlformats.org/drawingml/2006/main">
            <a:r>
              <a:t>No guaranteed profit, APY, yield, token price, listing, or investment recommendation.</a:t>
            </a:r>
          </a:p>
          <a:p xmlns:a="http://schemas.openxmlformats.org/drawingml/2006/main">
            <a:r>
              <a:t>No planned feature should be described as live unless approved and evidenced.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that this deck can be distributed now through the approved public site.</a:t>
            </a:r>
          </a:p>
          <a:p xmlns:a="http://schemas.openxmlformats.org/drawingml/2006/main">
            <a:r>
              <a:t>Prepare assets and manifests before release.</a:t>
            </a:r>
          </a:p>
          <a:p xmlns:a="http://schemas.openxmlformats.org/drawingml/2006/main">
            <a:r>
              <a:t>Validate links, checksums, and public-safe content.</a:t>
            </a:r>
          </a:p>
          <a:p xmlns:a="http://schemas.openxmlformats.org/drawingml/2006/main">
            <a:r>
              <a:t>Publish only after owner approval and monitor after release.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turns the deck into a usable handoff instead of a passive brochure.</a:t>
            </a:r>
          </a:p>
          <a:p xmlns:a="http://schemas.openxmlformats.org/drawingml/2006/main">
            <a:r>
              <a:t>Customers: read the whitepaper and FAQ before taking product actions.</a:t>
            </a:r>
          </a:p>
          <a:p xmlns:a="http://schemas.openxmlformats.org/drawingml/2006/main">
            <a:r>
              <a:t>Partners: use the official resource center and media kit.</a:t>
            </a:r>
          </a:p>
          <a:p xmlns:a="http://schemas.openxmlformats.org/drawingml/2006/main">
            <a:r>
              <a:t>Operators: follow release runbooks and approval gates.</a:t>
            </a:r>
          </a:p>
          <a:p xmlns:a="http://schemas.openxmlformats.org/drawingml/2006/main">
            <a:r>
              <a:t>Reviewers: evaluate product scope, commercial model, controls, and roadmap boundaries.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practical call to action: use the live public resource center as the source of truth.</a:t>
            </a:r>
          </a:p>
          <a:p xmlns:a="http://schemas.openxmlformats.org/drawingml/2006/main">
            <a:r>
              <a:t>Start with the Resource Center.</a:t>
            </a:r>
          </a:p>
          <a:p xmlns:a="http://schemas.openxmlformats.org/drawingml/2006/main">
            <a:r>
              <a:t>Use the current deck, whitepaper, promo video, media kit, and FAQ.</a:t>
            </a:r>
          </a:p>
          <a:p xmlns:a="http://schemas.openxmlformats.org/drawingml/2006/main">
            <a:r>
              <a:t>Keep all external messaging aligned to approved public materials.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8a41e628e94f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d47ee59c5f4e7e" /><Relationship Type="http://schemas.openxmlformats.org/officeDocument/2006/relationships/slideLayout" Target="/ppt/slideLayouts/slideLayout1.xml" Id="R1dbc05a053524f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bc05a053524f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4088041754d67" /><Relationship Type="http://schemas.openxmlformats.org/officeDocument/2006/relationships/notesSlide" Target="/ppt/notesSlides/notesSlide1.xml" Id="R72e7135b61ba42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f37bbf22a40cd" /><Relationship Type="http://schemas.openxmlformats.org/officeDocument/2006/relationships/notesSlide" Target="/ppt/notesSlides/notesSlide2.xml" Id="R2290825bbb3545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392981573459a" /><Relationship Type="http://schemas.openxmlformats.org/officeDocument/2006/relationships/notesSlide" Target="/ppt/notesSlides/notesSlide3.xml" Id="R2d8d35ef8a2444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0af32c0284387" /><Relationship Type="http://schemas.openxmlformats.org/officeDocument/2006/relationships/notesSlide" Target="/ppt/notesSlides/notesSlide4.xml" Id="R9279ce1fcf384c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9ac26123f44c0" /><Relationship Type="http://schemas.openxmlformats.org/officeDocument/2006/relationships/notesSlide" Target="/ppt/notesSlides/notesSlide5.xml" Id="R5fda3e2e0fd344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ca03ddaa347b6" /><Relationship Type="http://schemas.openxmlformats.org/officeDocument/2006/relationships/notesSlide" Target="/ppt/notesSlides/notesSlide6.xml" Id="R064e61fc4d064a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09b74e722453f" /><Relationship Type="http://schemas.openxmlformats.org/officeDocument/2006/relationships/notesSlide" Target="/ppt/notesSlides/notesSlide7.xml" Id="Rfc9976bf60b440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a64dc753c400a" /><Relationship Type="http://schemas.openxmlformats.org/officeDocument/2006/relationships/notesSlide" Target="/ppt/notesSlides/notesSlide8.xml" Id="R28095f85b9744f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2ccd368d447a3" /><Relationship Type="http://schemas.openxmlformats.org/officeDocument/2006/relationships/notesSlide" Target="/ppt/notesSlides/notesSlide9.xml" Id="R2c931d3d531f4e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163a6873b4e7f" /><Relationship Type="http://schemas.openxmlformats.org/officeDocument/2006/relationships/notesSlide" Target="/ppt/notesSlides/notesSlide10.xml" Id="R44786475e5334e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1ae6647054c56" /><Relationship Type="http://schemas.openxmlformats.org/officeDocument/2006/relationships/notesSlide" Target="/ppt/notesSlides/notesSlide11.xml" Id="Rae89032247084e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4625aae1f4086" /><Relationship Type="http://schemas.openxmlformats.org/officeDocument/2006/relationships/notesSlide" Target="/ppt/notesSlides/notesSlide12.xml" Id="R6520dec201dd48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61f60a6fe4b5c" /><Relationship Type="http://schemas.openxmlformats.org/officeDocument/2006/relationships/notesSlide" Target="/ppt/notesSlides/notesSlide13.xml" Id="R4d48d738d70940e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8be91379c4d82" /><Relationship Type="http://schemas.openxmlformats.org/officeDocument/2006/relationships/notesSlide" Target="/ppt/notesSlides/notesSlide14.xml" Id="R9a8ee5fb86cf435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7c2426c7d42eb" /><Relationship Type="http://schemas.openxmlformats.org/officeDocument/2006/relationships/notesSlide" Target="/ppt/notesSlides/notesSlide15.xml" Id="R90605265d615492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2e2f8a4d147c3" /><Relationship Type="http://schemas.openxmlformats.org/officeDocument/2006/relationships/notesSlide" Target="/ppt/notesSlides/notesSlide16.xml" Id="R0e11e6147259438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c7c56d7d44403" /><Relationship Type="http://schemas.openxmlformats.org/officeDocument/2006/relationships/notesSlide" Target="/ppt/notesSlides/notesSlide17.xml" Id="R9132c7ee0579475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d051c214c4a05" /><Relationship Type="http://schemas.openxmlformats.org/officeDocument/2006/relationships/notesSlide" Target="/ppt/notesSlides/notesSlide18.xml" Id="R9a1e1d047e36436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8db9bd4054d04" /><Relationship Type="http://schemas.openxmlformats.org/officeDocument/2006/relationships/notesSlide" Target="/ppt/notesSlides/notesSlide19.xml" Id="R111ebb1dfa90463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eb7828f1d4a6d" /><Relationship Type="http://schemas.openxmlformats.org/officeDocument/2006/relationships/notesSlide" Target="/ppt/notesSlides/notesSlide20.xml" Id="R3a392779da11486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a2f8d737644d8" /><Relationship Type="http://schemas.openxmlformats.org/officeDocument/2006/relationships/notesSlide" Target="/ppt/notesSlides/notesSlide21.xml" Id="Rb7f9581c00ab4ba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88c54879341af" /><Relationship Type="http://schemas.openxmlformats.org/officeDocument/2006/relationships/notesSlide" Target="/ppt/notesSlides/notesSlide22.xml" Id="Rf6ea622db88546b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afadd071c41e2" /><Relationship Type="http://schemas.openxmlformats.org/officeDocument/2006/relationships/notesSlide" Target="/ppt/notesSlides/notesSlide23.xml" Id="R5e27ba3c69a840c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0309f609d49ba" /><Relationship Type="http://schemas.openxmlformats.org/officeDocument/2006/relationships/notesSlide" Target="/ppt/notesSlides/notesSlide24.xml" Id="R2688af495a484aa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fad499f224dc6" /><Relationship Type="http://schemas.openxmlformats.org/officeDocument/2006/relationships/notesSlide" Target="/ppt/notesSlides/notesSlide25.xml" Id="Rc5e0712d0a5c4df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24717e10248df" /><Relationship Type="http://schemas.openxmlformats.org/officeDocument/2006/relationships/notesSlide" Target="/ppt/notesSlides/notesSlide26.xml" Id="R645055feb8054e3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5b32b8dd04e43" /><Relationship Type="http://schemas.openxmlformats.org/officeDocument/2006/relationships/notesSlide" Target="/ppt/notesSlides/notesSlide27.xml" Id="R87c17d9f3347465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07d43f1eb46e2" /><Relationship Type="http://schemas.openxmlformats.org/officeDocument/2006/relationships/notesSlide" Target="/ppt/notesSlides/notesSlide28.xml" Id="R972dc9380337488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9ccc5a23f40a1" /><Relationship Type="http://schemas.openxmlformats.org/officeDocument/2006/relationships/notesSlide" Target="/ppt/notesSlides/notesSlide29.xml" Id="R23762fa5224a4ef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56a3d7afd4896" /><Relationship Type="http://schemas.openxmlformats.org/officeDocument/2006/relationships/notesSlide" Target="/ppt/notesSlides/notesSlide30.xml" Id="Ra9e5f52c828d42f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087553db344c6" /><Relationship Type="http://schemas.openxmlformats.org/officeDocument/2006/relationships/notesSlide" Target="/ppt/notesSlides/notesSlide31.xml" Id="Re2e0afc89fb549e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c6390707641ae" /><Relationship Type="http://schemas.openxmlformats.org/officeDocument/2006/relationships/notesSlide" Target="/ppt/notesSlides/notesSlide32.xml" Id="Rb96b920034984d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81DA21-E330-4B00-8261-B6AD90B7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9E3068-C268-4641-9BCE-C4B83A8E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BE3B9-7073-4636-A88B-7D964018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DFC"/>
                </a:solidFill>
              </a:defRPr>
            </a:pPr>
            <a:r>
              <a:rPr sz="900" b="1">
                <a:solidFill>
                  <a:srgbClr val="155DFC"/>
                </a:solidFill>
              </a:rPr>
              <a:t>PUBLIC BUSINESS PLAN AND INVESTOR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06C8C-474A-4264-B1FF-5C07B67B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L3AI Business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A0ED5-DFF8-41E8-B049-3C3D0ABB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public-safe operating blueprint for the L3AI product, commercial model, governance boundary, and roadmap.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267EA-06E0-4BE0-9D8B-C44473FE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77E39-62A5-4087-9198-54B5345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L3AI Public Business Plan | PUBLIC-COLLATERAL-020 | Page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4EE32-5435-47C4-B8DF-9C7C76A8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Not investment advice. Roadmap items are subject to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F7247C-DA02-4576-9E4E-903190A5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A130B-A28E-410B-A8FC-81A520DA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Customer, partner, media, and investor-style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3D155F-13F8-48C3-888D-564A6F29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A3682A-E3CB-401E-B5D9-9AE319E3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No investment advice, no guaranteed returns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96E3F2-E883-4E1C-BEEA-9A32DECB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E6E678-D4A1-410E-B70E-1102D5AC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Current capability and roadmap are clearly separated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9FD19F-F278-48C5-9A97-DE2BFE59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71625"/>
            <a:ext cx="6429375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A5D44B-0A1D-43F4-8B09-6D1BC720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478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EAFD"/>
                </a:solidFill>
              </a:defRPr>
            </a:pPr>
            <a:r>
              <a:rPr sz="1050" b="1">
                <a:solidFill>
                  <a:srgbClr val="53EAFD"/>
                </a:solidFill>
              </a:rPr>
              <a:t>PUBLIC REVIEW PACKAGE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8F14D1-C6B8-4EF2-97BE-4F704127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5270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Business model, product roadmap, operating controls, and launch assets in one public-safe deck.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6E7727-D376-41AC-ACE5-47EE5177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76750"/>
            <a:ext cx="1200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45D2D5-1530-48F1-A7D8-71EC2533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91050"/>
            <a:ext cx="1009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Product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738349-D59A-4DD6-90F8-98CE4B0D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76750"/>
            <a:ext cx="1200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AE3F1A-F3F2-49AC-A6A0-4BB73CDA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91050"/>
            <a:ext cx="1009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Content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C67413-F728-42EB-8F33-54A60604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1200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9E00C7-4D0C-49BD-8A48-BA4E98A4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91050"/>
            <a:ext cx="1009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Distribution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AD3399-1B58-4EE5-9D7E-934CF59C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76750"/>
            <a:ext cx="1200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A9AE00-46FC-40DE-8406-2AEF5BA7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91050"/>
            <a:ext cx="1009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Governance</a:t>
            </a:r>
          </a:p>
        </p:txBody>
      </p:sp>
    </p:spTree>
    <p:extLst>
      <p:ext uri="{BB962C8B-B14F-4D97-AF65-F5344CB8AC3E}">
        <p14:creationId xmlns:p14="http://schemas.microsoft.com/office/powerpoint/2010/main" val="15969373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C18F81-1FCA-49C3-92D7-7162F485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3479F-0E66-431F-8D74-55106CA2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6B91F-DD11-4DA5-B650-E5FB17DD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DFC"/>
                </a:solidFill>
              </a:defRPr>
            </a:pPr>
            <a:r>
              <a:rPr sz="900" b="1">
                <a:solidFill>
                  <a:srgbClr val="155DFC"/>
                </a:solidFill>
              </a:rPr>
              <a:t>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C3C6E-985A-4348-923F-655F2E28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The Opportunity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E40C3-9883-479F-90FD-FBC84D3A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market needs AI-assisted product experiences that are easier to understand, safer to communicate, and more reviewable before launch.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C8C93-D62A-499C-843E-F4C660FA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561AB-3E08-4886-867D-3CADFBAC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L3AI Public Business Plan | PUBLIC-COLLATERAL-020 | Page 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213BD-5251-4C75-80D0-90813F27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Not investment advice. Roadmap items are subject to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0B26F-1AD2-4FE6-8CF4-8AFFAE54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1E5B8-C054-430A-BF64-603C38E4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AI adoption is rising, but public trust depends on clear product boundaries.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91FFE-51FF-436A-9564-67C08EE6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AA1D2-E9CB-42B4-AC4F-99CBDD0A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Wallet-aware and compute-oriented workflows need strong risk language.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097FD6-F136-48DD-B182-05997F33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7AE7C7-65F6-4569-9CF0-4C27BC9C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L3AI packages product education, public resources, and operating controls into one launch system.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19DFD6-A138-4246-9C7E-C8037082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64293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FCDBF8-0432-49D1-B9A7-A3C17838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Business thesis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233F8E-942C-4F25-8360-ED06DD41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571750"/>
            <a:ext cx="238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2CD640-6A15-46D5-BDB6-E18D8510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860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Clarity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63AC19-6CB0-410C-A299-285D0DD5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571750"/>
            <a:ext cx="238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722EA3-DFB7-445A-A134-9FD25397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860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02B636-A006-4B0D-975E-7B6484E5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90950"/>
            <a:ext cx="238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BC7D"/>
          </a:solidFill>
          <a:ln xmlns:a="http://schemas.openxmlformats.org/drawingml/2006/main" w="0">
            <a:solidFill>
              <a:srgbClr val="00BC7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EBA24A-7E53-473D-9476-27979401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9052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C4E45A-44F9-4583-BABD-5F3A46C4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790950"/>
            <a:ext cx="238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7F22FE"/>
          </a:solidFill>
          <a:ln xmlns:a="http://schemas.openxmlformats.org/drawingml/2006/main" w="0">
            <a:solidFill>
              <a:srgbClr val="7F22F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007B5C-997F-4795-94FC-9E764569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9052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Scale</a:t>
            </a:r>
          </a:p>
        </p:txBody>
      </p:sp>
    </p:spTree>
    <p:extLst>
      <p:ext uri="{BB962C8B-B14F-4D97-AF65-F5344CB8AC3E}">
        <p14:creationId xmlns:p14="http://schemas.microsoft.com/office/powerpoint/2010/main" val="6966451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921C18-9DE3-46D4-8E0E-A05D1329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7F87B-C778-43CE-8EB1-21D3D625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742C8-8894-4F65-9B80-345D8098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DFC"/>
                </a:solidFill>
              </a:defRPr>
            </a:pPr>
            <a:r>
              <a:rPr sz="900" b="1">
                <a:solidFill>
                  <a:srgbClr val="155DFC"/>
                </a:solidFill>
              </a:rPr>
              <a:t>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7C165-F1A6-4F6E-B6E1-73F4D8D7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Approved Product 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43DE75-1B3C-4287-AC50-093A4E6B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deck separates current public materials, implementation evidence, and roadmap concepts so planned features are never presented as delivered.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FEDFE-8E38-47E3-95A4-3F3A8DB3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12718-734B-43E6-A73F-2134ABD2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L3AI Public Business Plan | PUBLIC-COLLATERAL-020 | Page 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CEE21-4C15-47FC-A7D9-24E4AB38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Not investment advice. Roadmap items are subject to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AAED2-D78B-4E70-A089-021F3FE8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036B81-214D-4A39-BF71-7F43E841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Current: public site, whitepaper, business deck, promo video, media resources.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079A0-28DA-4217-B8F5-24CCDC2A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F0CA1-7934-456A-BA26-F3890A21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Evidence-based: wallet-aware, compute-oriented, admin, API, content, and operations surfaces.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22DBC-CCE2-4B4D-9324-D36BE9FF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1A9B82-9E38-4EA3-8108-13746D7D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Roadmap: AI Universe, advanced governance, and ecosystem modules remain under review.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0B10E0-515A-4515-9ED8-42C90394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64293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71233E-E5F4-4266-907F-EBAE252C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Public claim 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003FAD-C429-448B-8074-A6B36405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9557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E0A313-DB8F-41B0-AE91-50F6F26C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24125"/>
            <a:ext cx="200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BC7D"/>
          </a:solidFill>
          <a:ln xmlns:a="http://schemas.openxmlformats.org/drawingml/2006/main" w="0">
            <a:solidFill>
              <a:srgbClr val="00BC7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2B165F-5305-4A99-A069-460EA2ED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384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Current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AF6E2C-D54B-4749-A3DF-663D1E00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003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14158"/>
                </a:solidFill>
              </a:defRPr>
            </a:pPr>
            <a:r>
              <a:rPr sz="1125">
                <a:solidFill>
                  <a:srgbClr val="314158"/>
                </a:solidFill>
              </a:rPr>
              <a:t>Use in public materials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AE263E-7471-48CC-AD57-5B609A83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7182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E41F02-2954-496F-9691-4137B054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00375"/>
            <a:ext cx="200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1751A7-6A75-408E-92E7-86BB9FD5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146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Evidence-based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1D7E96-881D-42DB-83FE-768A6595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765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14158"/>
                </a:solidFill>
              </a:defRPr>
            </a:pPr>
            <a:r>
              <a:rPr sz="1125">
                <a:solidFill>
                  <a:srgbClr val="314158"/>
                </a:solidFill>
              </a:rPr>
              <a:t>Use in public materials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427CE6-60C7-4F2B-BA6D-902248B3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64807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1B03DD-E299-452E-AD7D-04D21FA6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76625"/>
            <a:ext cx="200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4B44DA-88D3-4173-929B-7F509D56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909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B0DD49-B354-4086-8C40-30AB8BA3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5528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14158"/>
                </a:solidFill>
              </a:defRPr>
            </a:pPr>
            <a:r>
              <a:rPr sz="1125">
                <a:solidFill>
                  <a:srgbClr val="314158"/>
                </a:solidFill>
              </a:rPr>
              <a:t>Label as planned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143531-38D2-4459-8DCC-6F461229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12432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C7F168-1651-415A-B807-5DBA8B20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52875"/>
            <a:ext cx="200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2056"/>
          </a:solidFill>
          <a:ln xmlns:a="http://schemas.openxmlformats.org/drawingml/2006/main" w="0">
            <a:solidFill>
              <a:srgbClr val="FF205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34B50D-8264-43FE-8C1D-3ADA6727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671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Approval-gated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0BD652-C25B-4511-B05C-DD17F48B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14158"/>
                </a:solidFill>
              </a:defRPr>
            </a:pPr>
            <a:r>
              <a:rPr sz="1125">
                <a:solidFill>
                  <a:srgbClr val="314158"/>
                </a:solidFill>
              </a:rPr>
              <a:t>Requires owner approval</a:t>
            </a:r>
          </a:p>
        </p:txBody>
      </p:sp>
    </p:spTree>
    <p:extLst>
      <p:ext uri="{BB962C8B-B14F-4D97-AF65-F5344CB8AC3E}">
        <p14:creationId xmlns:p14="http://schemas.microsoft.com/office/powerpoint/2010/main" val="911677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B932CE-323F-4870-A386-F5BC8164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FB013-1765-4680-9465-53278CF2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EE110-6E08-46F3-B3A4-AE313176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DFC"/>
                </a:solidFill>
              </a:defRPr>
            </a:pPr>
            <a:r>
              <a:rPr sz="900" b="1">
                <a:solidFill>
                  <a:srgbClr val="155DFC"/>
                </a:solidFill>
              </a:rPr>
              <a:t>PRODUCT MATRIX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79F59-18A6-47EC-8458-01024A32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Product Surface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0F40C-98A3-4AA6-8F42-E8A79B77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L3AI is best understood as a multi-surface platform rather than a single webpage or campaign.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E1FDD-6232-4AA1-84B9-B73FF528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79928-8B00-44FB-85A5-01D41922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L3AI Public Business Plan | PUBLIC-COLLATERAL-020 | Page 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2A997-FA79-4C6C-B7A4-D23DD4D7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Not investment advice. Roadmap items are subject to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058F0-99B2-4CCB-ABA0-C299F2C4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8B6EC-CBDC-440C-8D17-21AC3A80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Public web and content assets support onboarding and education.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2D93B0-3364-4509-8F3E-C7AE9766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037291-5FBF-4145-94F6-EDF034BC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API, admin, wallet-aware, and compute-oriented surfaces support controlled operations.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634610-994C-4FA0-9751-E710A2CF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DC09D-4652-49F1-BEFD-6397045C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Community and AI modules create expansion paths once policy and release gates approve them.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DED12E-FF89-457C-865A-674C0EE3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64293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7A2D64-0E9C-42FB-A1E3-65C6735A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Eight public product surfaces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A76178-1C33-4622-B7E0-35DE913D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47950"/>
            <a:ext cx="1162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29A108-40D7-4846-978F-3D27BE2A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62250"/>
            <a:ext cx="971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Web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480632-F0B7-4C1A-9297-85403CB8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47950"/>
            <a:ext cx="1162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AED01F-385D-4B80-89C5-0655014C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62250"/>
            <a:ext cx="971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BBB60B-CACC-42A7-AB10-4E2300A6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1162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0BC7D"/>
          </a:solidFill>
          <a:ln xmlns:a="http://schemas.openxmlformats.org/drawingml/2006/main" w="0">
            <a:solidFill>
              <a:srgbClr val="00BC7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97EC03-F705-4B9F-B7A3-D8CE3970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971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974335-85AD-4E49-A90B-90DEA71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47950"/>
            <a:ext cx="1162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7F22FE"/>
          </a:solidFill>
          <a:ln xmlns:a="http://schemas.openxmlformats.org/drawingml/2006/main" w="0">
            <a:solidFill>
              <a:srgbClr val="7F22F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833A25-4810-4CD4-AD92-1A2C2A67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62250"/>
            <a:ext cx="971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Wallet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8A626F-057F-41FA-AEF5-4EE4CDFE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90950"/>
            <a:ext cx="1162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009AB9-8038-4940-B7C8-CF58112E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05250"/>
            <a:ext cx="971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Compute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B6BD01-AB68-45E0-9293-885283A6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90950"/>
            <a:ext cx="1162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0A6F4"/>
          </a:solidFill>
          <a:ln xmlns:a="http://schemas.openxmlformats.org/drawingml/2006/main" w="0">
            <a:solidFill>
              <a:srgbClr val="00A6F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8F335D-7A50-4864-A960-25E9E3AC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05250"/>
            <a:ext cx="971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575C6F-A69D-4974-8201-308E7EF1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90950"/>
            <a:ext cx="1162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615FFF"/>
          </a:solidFill>
          <a:ln xmlns:a="http://schemas.openxmlformats.org/drawingml/2006/main" w="0">
            <a:solidFill>
              <a:srgbClr val="615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0D7CF8-D85E-4220-9CAA-5B43453B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971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Community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870E86-8DEC-4C4B-9642-D2CE426F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90950"/>
            <a:ext cx="1162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314158"/>
          </a:solidFill>
          <a:ln xmlns:a="http://schemas.openxmlformats.org/drawingml/2006/main" w="0">
            <a:solidFill>
              <a:srgbClr val="31415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1315EE-1610-4CA1-AF6A-717849A9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05250"/>
            <a:ext cx="971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Ops</a:t>
            </a:r>
          </a:p>
        </p:txBody>
      </p:sp>
    </p:spTree>
    <p:extLst>
      <p:ext uri="{BB962C8B-B14F-4D97-AF65-F5344CB8AC3E}">
        <p14:creationId xmlns:p14="http://schemas.microsoft.com/office/powerpoint/2010/main" val="9792487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D999D6-7FF9-4828-9ABE-832ED543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CFAF5-3541-4FF8-A5EB-A05D67C3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B8125-458A-496A-B86F-4A3C7A30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DFC"/>
                </a:solidFill>
              </a:defRPr>
            </a:pPr>
            <a:r>
              <a:rPr sz="900" b="1">
                <a:solidFill>
                  <a:srgbClr val="155DFC"/>
                </a:solidFill>
              </a:rPr>
              <a:t>USER LIFECYCLE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06CCB-7EEF-4848-B382-D59A54E3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How Users Move Through L3AI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F45C6-1BBB-4D73-8B59-AA982DDA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public journey is education-first: discover, understand, verify, participate, and get support.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E2D77-2926-4B43-8C13-E5E5C8DD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D20F2-4A62-498A-9C52-D977CDAE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L3AI Public Business Plan | PUBLIC-COLLATERAL-020 | Page 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0EA4B-92AA-48E7-814E-FD21AFE0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Not investment advice. Roadmap items are subject to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BBE77-9784-4908-8A0A-061C6345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2BBB6-C566-486F-A837-5177FE1B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The user starts with public resources before any sensitive 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09033-FAE3-4A8E-9FF4-E0CB10A6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0008A6-5DBF-4754-8362-7ED321BD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Risk and FAQ language sets expectations early.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A75F0-F0B9-4EF0-BCB4-C99036B8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6DB8C7-086E-49A2-82C0-B005931E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Review and support loops reduce confusion during launch.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994B0F-554F-4531-9434-EE499827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64293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EE5ED1-9B0D-472E-8542-9C17E3B5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Sequenced 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6989EF-666A-457E-B1F0-709ED9FC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33750"/>
            <a:ext cx="904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47D71C-8403-48A4-99C9-83A4CC6A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48050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Discover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C3CCCD-B534-4830-AABD-3BC24DAB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5433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32742D-0035-4202-B07F-B96B71C3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904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A340AA-DFC5-40CB-88C0-8A196A33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48050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Learn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97E4C8-CD4E-4006-8911-647AD88A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5433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26D838-15E9-4791-AA63-FFEC19FB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0"/>
            <a:ext cx="904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3EE678-9E32-49F9-BCF9-FC42D97B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48050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2DE791-C37E-48A0-812C-728F2747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5433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8523E0-1FFE-4046-B403-63A398C8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904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576667-BCDD-4996-A877-D8C638DA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48050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Participate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7D0026-5AB4-411C-A645-29044840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5433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840F38-ADFC-405D-806C-E73868DF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904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B08892-7461-46C5-82E2-DB7877D9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48050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1F3476-7CCA-4D71-BE2E-64B07A78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5433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B0506E-6709-49E7-B8AC-8F8C7A2B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333750"/>
            <a:ext cx="904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E552E8-ED0B-479D-8D2F-0AB1EE8F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48050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Support</a:t>
            </a:r>
          </a:p>
        </p:txBody>
      </p:sp>
    </p:spTree>
    <p:extLst>
      <p:ext uri="{BB962C8B-B14F-4D97-AF65-F5344CB8AC3E}">
        <p14:creationId xmlns:p14="http://schemas.microsoft.com/office/powerpoint/2010/main" val="11369442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BAA3CD-29D1-44BF-A218-BA13E414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335A0-D30E-4C9B-88C7-9C7ED092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282B0-D6E0-4705-8DED-A9556BAE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DFC"/>
                </a:solidFill>
              </a:defRPr>
            </a:pPr>
            <a:r>
              <a:rPr sz="900" b="1">
                <a:solidFill>
                  <a:srgbClr val="155DFC"/>
                </a:solidFill>
              </a:rPr>
              <a:t>PARTICIPATION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9E13A-06DA-406F-B0B7-A9C027E3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Participation Paths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72878-55BB-4BBA-ADD8-75BCEDF6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Different audiences need different entry points without turning every user into the same funnel.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B88EA-C847-4358-ABE5-63E72A53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883E7-E748-4D40-B4C2-E7B4CA3E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L3AI Public Business Plan | PUBLIC-COLLATERAL-020 | Page 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5988C-3D8E-4BFA-956E-C18D15E3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Not investment advice. Roadmap items are subject to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8B041-4AC4-4B69-A65E-E93DAE0D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06DAF4-B13D-43DA-8D42-0F3C4BD9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Visitors need public education and FAQ clarity.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AE6D5-942B-471D-B679-380F1986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08332-9F84-43F1-82E1-90F35B43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Community members need compliant engagement language.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43A55F-80FC-43F0-8BD9-7CC8E19D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35AD0A-4D9F-4162-8A57-5B33AC39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Partners need media, website, and deck assets.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1A703B-5385-436C-A87C-7B07E420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774674-0DB6-49E6-B3A7-5E4074C6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00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Operators need runbooks, approvals, and rollback controls.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437C44-E1A5-4B8D-A277-0F7177C0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64293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9AA5EB-FD72-4E23-8709-E06E48AB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Audience routes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B400D3-9271-4CB2-9976-1E88800A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5270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32615F-79FF-4D03-A429-86FA29B8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67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Visitor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08C944-60A8-429F-ABC2-3B1E84FC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33675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6C5BBD-2781-41A7-B9D6-2BF0F8EA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62890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Education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9D0C81-6B90-47A1-B4D4-47D1357A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2420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9CE3E9-53AF-4879-9863-589A4A5D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385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Community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47FD6F-B7D9-4947-9C3B-D5EFCE27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305175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19708D-BA54-46B0-AFD1-CE666016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0040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Engagement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5FF5A6-15C5-4A6B-839B-C442866E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9570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61B455-0496-4BB7-9ACD-85FFD8E3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10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Partner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6A6151-C9B2-4653-9A2E-937435DE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876675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294CBF-FDB2-4AAF-9EBA-6D141DCF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77190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Enablement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447078-0462-4D18-94EA-411C8835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6720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00F716-848C-4FBA-9C0F-27A77A2C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815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Operator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DE8BDD-1985-4310-9278-8B5C163D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448175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CF868D-0256-4209-9684-7EED4B5A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4340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Governance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E5F328-0680-494E-A93E-5FEE3288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3870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37EE40-DBA9-486D-A66A-4D97A9B6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53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Investor review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4E4ACD-CA9D-4F87-87A1-ADEEA8B9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019675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0A9571-4C72-49CC-9DB1-F3BF210A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91490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15932969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B7B294-A7C7-47AB-A7B2-6B98EDB0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BEBA3-5142-4713-935B-D97F33B2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B9948-1212-4AB6-90DD-53B17B2C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DFC"/>
                </a:solidFill>
              </a:defRPr>
            </a:pPr>
            <a:r>
              <a:rPr sz="900" b="1">
                <a:solidFill>
                  <a:srgbClr val="155DFC"/>
                </a:solidFill>
              </a:rPr>
              <a:t>MEMBERSHIP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A852F-A662-499B-A4E8-590D1836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Membership and VIP Progression 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D4430-9488-40B0-96AE-61F12EAD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Progression can be discussed conceptually, while exact VIP rules, eligibility, percentages, and benefit values require approved policy.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62AD6-A511-4D27-BEEC-1F42FC0D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861D1-60A6-442D-AACC-7ADEAE51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L3AI Public Business Plan | PUBLIC-COLLATERAL-020 | Page 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11AA5-4AA9-41CD-8DA0-4DCFAFA6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Not investment advice. Roadmap items are subject to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1F12C-CF59-41A0-B109-32D26C93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FEFC7-8AD2-4254-880A-00902121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Public-safe framing: learning, verification, participation, contribution, governance readiness.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AB40A-B086-4C93-BE99-AE37BE84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72A42-4D78-401A-B484-F3C7DAEA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Not public without approval: exact rank criteria, reward formulas, payout logic, seasonal values.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27D3DF-554A-4426-8B52-BD0EC68B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97C59E-06DF-4D43-A388-4DC8EDC5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All member-facing claims must match final legal and product policy.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35FDDD-E9E4-4819-88EA-318D8476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64293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0F549-9CE5-4FB2-BA23-525E2829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Conceptual progression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152EBA-7762-4840-8DFD-20B29F4B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76750"/>
            <a:ext cx="1000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DA9C23-F861-4A52-BB1E-6D2B0A25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91050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Learn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9A1DEE-879E-4F99-830C-BF7C0B71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48125"/>
            <a:ext cx="1000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C5EE0B-F1DB-40D6-AE45-4A73ABB7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62425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CEFD76-1077-422B-875F-3AEA522A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19500"/>
            <a:ext cx="1000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AE801A-0D07-4774-B912-76029640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33800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Participate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F04ECB-EC0F-4868-BC8F-DD3EEA76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190875"/>
            <a:ext cx="1000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CC298B-24BF-4C69-8AD8-833D1244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305175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Contribute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CF3C8F-6286-4F0B-AC4C-DC9F4A27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62250"/>
            <a:ext cx="1000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7F22FE"/>
          </a:solidFill>
          <a:ln xmlns:a="http://schemas.openxmlformats.org/drawingml/2006/main" w="0">
            <a:solidFill>
              <a:srgbClr val="7F22F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C557CA-7623-4DBE-A22C-5DA0EECB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76550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Governance-ready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B921F4-8D4E-4F8F-8E6D-1470549F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1435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2056"/>
                </a:solidFill>
              </a:defRPr>
            </a:pPr>
            <a:r>
              <a:rPr sz="1200" b="1">
                <a:solidFill>
                  <a:srgbClr val="FF2056"/>
                </a:solidFill>
              </a:rPr>
              <a:t>Exact VIP rules, ranks, eligibility and reward values require approved policy.</a:t>
            </a:r>
          </a:p>
        </p:txBody>
      </p:sp>
    </p:spTree>
    <p:extLst>
      <p:ext uri="{BB962C8B-B14F-4D97-AF65-F5344CB8AC3E}">
        <p14:creationId xmlns:p14="http://schemas.microsoft.com/office/powerpoint/2010/main" val="16040203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7D2DD5-0A88-42EC-9F25-6F5D0B9C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84806-BEDC-4ABC-A94A-4703D716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4E8FD-B215-4AB3-A96A-252572EA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DFC"/>
                </a:solidFill>
              </a:defRPr>
            </a:pPr>
            <a:r>
              <a:rPr sz="900" b="1">
                <a:solidFill>
                  <a:srgbClr val="155DFC"/>
                </a:solidFill>
              </a:rPr>
              <a:t>BUSINESS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B06AAA-79B4-4AC5-A6DE-80F54061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Commercial Model Framework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07544-F977-4A09-BC02-9CFC358E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business model is designed around product access, services, content distribution, and approved partner channels.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8B206-257F-4E10-9DD9-36DC0ED8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5B4B4-233E-4CEC-9BE1-6C704295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L3AI Public Business Plan | PUBLIC-COLLATERAL-020 | Page 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D03EC-1D79-4978-A5DC-60C83CC7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Not investment advice. Roadmap items are subject to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66B51-408F-4ABF-8B67-4782A4BB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4EC4A-3200-4977-984C-9322E723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Platform access and product experience create the core relationship.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766B1F-AA05-4EEC-9001-1B88FCB3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2DADE5-0BF7-4D76-9146-DA765BDA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Content, media, and partner enablement support customer acquisition.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C78CBF-3570-4B4F-B18E-40A3D71E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D67014-B131-433A-8EE1-F7C9AC2A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Enterprise or partner tooling can expand only where contracts and compliance approve 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AF627F-AF9E-46F2-8E68-6484845F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64293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F0E3F-3F5E-4E23-8A6F-A5BCB63A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Commercial flywheel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F6B018-6083-4810-9301-3DB87D04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1143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0C8964-24BC-4A15-942C-4C203E2D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71850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L3AI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4E07FC-920A-41B4-BC57-A76416B1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79D55D-2887-4CC8-B714-67E46A5E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Product 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72FCC3-E394-4B87-A788-B5C47643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D34F60-FC63-4DA9-971F-91A8D606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908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Content distribution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7513F7-1527-46CC-9CD0-D49C1583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C4EB3C-6BAD-4F9D-9696-9A6CA1C6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100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Partner enablement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7DB3C1-9452-439E-A283-F8F88E18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625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759208-4B9C-43D3-BD2F-871620A4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768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Operations tooling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864A57-6821-4A69-B258-4024A263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A3B57D-8044-4767-87A6-16B964C7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100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Support</a:t>
            </a:r>
          </a:p>
        </p:txBody>
      </p:sp>
    </p:spTree>
    <p:extLst>
      <p:ext uri="{BB962C8B-B14F-4D97-AF65-F5344CB8AC3E}">
        <p14:creationId xmlns:p14="http://schemas.microsoft.com/office/powerpoint/2010/main" val="8944382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748050-F927-4131-9B46-308D4040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45A3C-B803-4247-B4C6-D65271FD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747C1C-4282-47C2-AD04-C8B2D1B5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DFC"/>
                </a:solidFill>
              </a:defRPr>
            </a:pPr>
            <a:r>
              <a:rPr sz="900" b="1">
                <a:solidFill>
                  <a:srgbClr val="155DFC"/>
                </a:solidFill>
              </a:rPr>
              <a:t>REVENUE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1F517-161D-47DC-9136-539569A2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Platform Revenue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B1F5D-C013-445D-8FB2-B5CF77B8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Revenue paths are shown as categories. No returns, APY, token price, or investment outcome is promised.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D14CA-2099-41CA-91D5-08F999BB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D40DF-8B0C-4D6A-9668-990799DE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L3AI Public Business Plan | PUBLIC-COLLATERAL-020 | Page 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18874-C900-4EFE-9E2B-607DA02E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Not investment advice. Roadmap items are subject to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B4067-EC18-477C-88C6-B6352566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8EB45E-BC45-426F-8221-6D9E27BF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Approved public language should stay at category level.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23E4E-51A7-48DC-9129-D736EF9E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41FBB8-1352-4730-94FD-E2F519DD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Any pricing, subscription, commission, referral, or token economics must match final policy.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C25A67-F335-4EA3-806E-75CF7BA0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1EF666-E350-4034-B12B-F52D8C96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Revenue model communication is gated by legal and product approval.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ABAA1-750A-482E-8F8F-1D749032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64293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9BACBA-1D35-45D6-A611-86C7985F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Category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6E0746-4FFD-406C-AF7A-C0B4A55C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71750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410044-1A7D-4C25-BBEC-C0BA0E9C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86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971628-993D-44C6-B7DF-FB1803C7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9525">
            <a:solidFill>
              <a:srgbClr val="155DF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76198B-2E1C-4C41-9E37-87DF3DAF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Public-safe category 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18B9B4-FF11-4DFE-AD86-BA5802B6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95625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8A8B15-E5F6-49B3-86EE-4A01774D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099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Subscription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F6466E-F309-472E-9B3B-2772638D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95625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4417F6-6B7D-44BE-B264-B9AFB4A4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908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20618"/>
                </a:solidFill>
              </a:defRPr>
            </a:pPr>
            <a:r>
              <a:rPr sz="1050">
                <a:solidFill>
                  <a:srgbClr val="020618"/>
                </a:solidFill>
              </a:rPr>
              <a:t>Requires approved policy before exact claims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F49B63-5715-4B7E-BACE-80FC4BD5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19500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4F5752-9323-4EED-A43D-A6571F9F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33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Partner services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7371F6-55CC-4D77-8993-F79BECEB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1950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7EF884-5649-4BBC-846E-5B65EC20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14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20618"/>
                </a:solidFill>
              </a:defRPr>
            </a:pPr>
            <a:r>
              <a:rPr sz="1050">
                <a:solidFill>
                  <a:srgbClr val="020618"/>
                </a:solidFill>
              </a:rPr>
              <a:t>Requires approved policy before exact claims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E88384-526C-4570-BE8C-598BBB1C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43375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A15137-11AD-473C-B4E3-12B51774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576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Media package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157FDD-3E1C-46E4-9841-710DFC94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43375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31BB1A-7FD9-4CDC-94C4-960B3811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386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20618"/>
                </a:solidFill>
              </a:defRPr>
            </a:pPr>
            <a:r>
              <a:rPr sz="1050">
                <a:solidFill>
                  <a:srgbClr val="020618"/>
                </a:solidFill>
              </a:rPr>
              <a:t>Requires approved policy before exact claims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6FF6D2-24C0-4F9B-929C-5E146964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67250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53402D-0B6E-40B4-931D-DE753627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81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Enterprise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E6AB78-0FE4-4659-B680-DC0DAADB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672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912B66-06E2-49F3-AC4F-CE8FA5A5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625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20618"/>
                </a:solidFill>
              </a:defRPr>
            </a:pPr>
            <a:r>
              <a:rPr sz="1050">
                <a:solidFill>
                  <a:srgbClr val="020618"/>
                </a:solidFill>
              </a:rPr>
              <a:t>Requires approved policy before exact claims</a:t>
            </a:r>
          </a:p>
        </p:txBody>
      </p:sp>
    </p:spTree>
    <p:extLst>
      <p:ext uri="{BB962C8B-B14F-4D97-AF65-F5344CB8AC3E}">
        <p14:creationId xmlns:p14="http://schemas.microsoft.com/office/powerpoint/2010/main" val="12129134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37857A-7673-4392-A62F-41C44A91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D231D-EDC1-4272-B1DB-E2D35C6A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3E648-F41C-4B01-9192-FF7CC9F3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DFC"/>
                </a:solidFill>
              </a:defRPr>
            </a:pPr>
            <a:r>
              <a:rPr sz="900" b="1">
                <a:solidFill>
                  <a:srgbClr val="155DFC"/>
                </a:solidFill>
              </a:rPr>
              <a:t>COMPUTE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47B9A-1DD5-4B9E-BB6A-41BF674F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Compute and Subscription Product 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EF0503-E657-4013-ABE1-82D0C03B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Compute-oriented surfaces can be described carefully, while exact subscription rules and renewal behavior require approved product policy.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1496A-FCB2-47B3-95AB-D457EA83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9BC57-FCFB-40B0-B06E-CEE5DB44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L3AI Public Business Plan | PUBLIC-COLLATERAL-020 | Page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387B5-5F00-4889-8E60-5102C8C3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Not investment advice. Roadmap items are subject to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EAC9A-3CE2-4538-9855-A71A68BB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E860C-4681-4335-BB67-7F064708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Current narrative: compute-aware product surfaces and controls exist in the platform plan.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9225A-A065-47C3-B1F6-5E7F938A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4DAED7-A2F1-47C9-94E6-722D176B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Approval-gated: public pricing, renewal windows, claim behavior, and benefit rules.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D2C5F2-AA2B-4C42-85DE-A792E341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B83CDE-9344-454D-B826-B7DC30FF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No public wording should imply guaranteed yield from compute access.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71D47F-8140-4F4C-9773-E5498D33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64293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F45FDA-1391-437F-8E80-F479700F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Controlled asset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70B23C-BD0B-49CB-8E28-45F4D8E6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527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C0C483-E1BA-4A8E-B040-A4045F1B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067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Select access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EECEA-5852-4DB1-8007-F2780FB8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956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A75192-37CD-49EC-9D84-EF36DAD9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6385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90766C-1D7D-4686-9D97-A6F89915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7528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Review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EA3E4C-3CA1-4CF6-A4D8-5B0BA7FB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385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E5661D-CC0A-4285-840B-DD5E6AFE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9527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EA59EE-3ED0-4A7D-9C37-45847DD4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067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Activate controls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417E45-7CE0-43C7-93DD-F78681BA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956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D0A7C8-2F9C-4AB1-A913-FB4D4A1F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6385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96BB49-231D-419B-9E8C-A4CC54B1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7528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Monitor status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FB085C-3A4F-4A3D-99FA-786411DB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6385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A4C96C-250B-4E6D-B4CF-09D206AC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9527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8C1478-BA21-4C85-93C7-E410EC12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067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Renew or exit</a:t>
            </a:r>
          </a:p>
        </p:txBody>
      </p:sp>
    </p:spTree>
    <p:extLst>
      <p:ext uri="{BB962C8B-B14F-4D97-AF65-F5344CB8AC3E}">
        <p14:creationId xmlns:p14="http://schemas.microsoft.com/office/powerpoint/2010/main" val="17145912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5C308A-5EF4-45B9-A419-3DB77ABD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3ADF6B-5F60-4EE9-BDF9-DF7278D9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4ADA8-4CBD-4A72-ABBF-B8317289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DFC"/>
                </a:solidFill>
              </a:defRPr>
            </a:pPr>
            <a:r>
              <a:rPr sz="900" b="1">
                <a:solidFill>
                  <a:srgbClr val="155DFC"/>
                </a:solidFill>
              </a:rPr>
              <a:t>COMMUNITY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751C8-D02C-452C-8E72-AE1885E8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Referral and Team Model 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20F1C-51B0-4F0A-A9C8-E63FA795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Community growth can be supported, but exact rewards, ranks, trees, or team payouts must stay policy-gated.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1ECC1-F76E-41EB-B749-C58B25BB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2EEA4-C7E0-4DF3-91B8-57CC776D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L3AI Public Business Plan | PUBLIC-COLLATERAL-020 | Page 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4CB8C-D657-474E-8F41-740941E5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Not investment advice. Roadmap items are subject to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72E63-1B14-4536-916D-3F6F7D2F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F90A3-5BFC-49AB-9FD7-40AB547C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Approved framing: community education, invitation flows, support, and engagement.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409F83-9FA6-4B1F-94EA-058CF887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249FC-3AEB-426B-A52D-E0EAF490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Not approved for public claims: exact payout tables, rank multipliers, or guaranteed team earnings.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BFCD9-F677-4411-930C-0FB4D3A3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504E07-516D-4F03-861F-45FF777F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Anti-abuse rules and audit trails are part of the operating story.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ED412-D9A5-405F-8899-F04F8446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64293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7E5C79-1987-4C95-A9B4-1D15792D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Community graph boundary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AC05A4-804C-4325-823E-DADD1B16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14625"/>
            <a:ext cx="12858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96F6E8-76AC-4882-98E0-1E844196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2892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Member 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E24A2E-B303-426C-911D-3D02DEB2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76500"/>
            <a:ext cx="12858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C316F9-4F76-4662-B508-FC0676E6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9080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Member 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C76286-1799-4D3C-AD34-EBDDCE88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19500"/>
            <a:ext cx="12858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2A8C03-544E-4BC2-9C35-AFF55167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3380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Member 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0A9CBF-F31F-4CE0-81F9-C7ABF1F2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81500"/>
            <a:ext cx="12858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111CA8-90E5-44D9-B520-16E87B2F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9580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Review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2F2A03-BC80-4AC7-9406-708250DA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762500"/>
            <a:ext cx="12858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2056"/>
          </a:solidFill>
          <a:ln xmlns:a="http://schemas.openxmlformats.org/drawingml/2006/main" w="0">
            <a:solidFill>
              <a:srgbClr val="FF205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121389-42BE-4798-9C0D-01022B0D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87680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Anti-abuse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548551-EA35-4FEB-906F-465CE2FC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241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E71C14-3936-470A-9CCF-0EE3D53F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241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C50086-FC0A-42BF-95CF-41FB5C63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495800"/>
            <a:ext cx="121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7678EF-4577-4CF0-A63F-A1046112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908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7E7736-B19E-4A17-8306-38AB917D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8576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56955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3327AF-A2E1-41B9-95C6-96AB2B45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DD02F-8F84-43B2-9A70-550A7112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4E1E1-6A05-4AAC-A81D-3A4F23AC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DFC"/>
                </a:solidFill>
              </a:defRPr>
            </a:pPr>
            <a:r>
              <a:rPr sz="900" b="1">
                <a:solidFill>
                  <a:srgbClr val="155DFC"/>
                </a:solidFill>
              </a:rPr>
              <a:t>AI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81408-5A0E-44F2-ACD2-02C3F88F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AI Quant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FFF8C-AFE1-4306-89C2-AA5AD866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L3AI can frame AI as explanation, workflow support, and review assistance. It should not be framed as guaranteed prediction or financial advice.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BFBAE-71F7-4762-9B53-C031083A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409CC-0DAE-464A-9D5F-BE981D2E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L3AI Public Business Plan | PUBLIC-COLLATERAL-020 | Page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70B2A-A441-4B49-8C79-D767F132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Not investment advice. Roadmap items are subject to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17122-2BE7-438D-B01C-82F168B2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9D553-2683-46CF-9C51-E1490ECD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Inputs: public context, user-selected data, and approved product content.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926CB-16A2-4C6A-95DE-5A4DDCBC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9E8EDA-CC30-4FF6-8E18-78079011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AI role: organize, explain, compare, and support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964C69-CDF5-4727-9D3A-E283044B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7DFA04-F1AC-40B7-AE12-1B0DF359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Guardrail: no promise of profit, no autonomous financial decision claim.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2D55A1-4605-4931-A1FC-689395CE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64293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375E7-1F20-42A8-A640-D23067D9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Sequenced 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C64481-5601-4B9F-877F-D031CC1D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33750"/>
            <a:ext cx="904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B543F3-FBE4-4FCD-84CA-044A2311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48050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BDB37E-E528-4574-AEFE-0A9ED586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5433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4ADEF6-E125-4D28-B375-3A8973C0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904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A069DF-D964-423F-8B1C-37C02748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48050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AI assist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486604-CC2C-42F9-AF2B-F016B675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5433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C73DBB-F12D-428A-AEE7-A8821DD8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0"/>
            <a:ext cx="904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328985-4EDD-43A2-8E30-827982C1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48050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Scenario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1DB191-D05E-4847-8F72-7A3B36C5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5433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8E4CEA-ADCD-4A73-B5A6-8F31B81E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904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E6E144-8547-4240-B35B-4C6DE057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48050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Risk language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BD0234-77D2-4E37-AB34-17D929CF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5433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8A7200-89F7-46A7-9FB1-E8FC09EB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904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053187-6ED9-44F7-AD28-7CBCA087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48050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Human decision</a:t>
            </a:r>
          </a:p>
        </p:txBody>
      </p:sp>
    </p:spTree>
    <p:extLst>
      <p:ext uri="{BB962C8B-B14F-4D97-AF65-F5344CB8AC3E}">
        <p14:creationId xmlns:p14="http://schemas.microsoft.com/office/powerpoint/2010/main" val="1471241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85A045-E3A3-48B6-A24A-6F9915C4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589C1-6169-49B6-B9C8-7788E1EE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BF07D-B4A8-4E20-9946-AC854A12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DFC"/>
                </a:solidFill>
              </a:defRPr>
            </a:pPr>
            <a:r>
              <a:rPr sz="900" b="1">
                <a:solidFill>
                  <a:srgbClr val="155DFC"/>
                </a:solidFill>
              </a:rPr>
              <a:t>WALLET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93913-1481-4810-8E5F-0CD3C3A5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Wallet and Asset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38BC28-E926-479E-9196-E153F389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Wallet-aware UX should be explained as a controlled flow with verification, records, and risk checkpoints.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1BAA7-E021-4CFD-8B80-C2E6201F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B1E7F5-5977-498D-B9DC-DB8ADEDA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L3AI Public Business Plan | PUBLIC-COLLATERAL-020 | Page 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EAAD1-580F-48A9-A2B4-FA60F947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Not investment advice. Roadmap items are subject to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35EBD-6A2D-4DC8-9556-54B27D3B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96DB6-213A-4B20-B89A-6E53A2B4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User-facing flows must show review before sensitive actions.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9D986-4F52-4232-860B-3ACE01A4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3D141-0AAD-42BD-826C-C442533E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Asset records, callbacks, and ledgers need auditability and replay protection.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D33F08-F2CA-4367-804D-F517EED8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41A417-6CD2-48EE-B873-436F5011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Public materials should not expose internal endpoints or raw wallet data.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05C6DA-DEFD-4535-91E8-7C1BFD54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64293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A86124-B7D5-4AF0-9D36-E3842646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Controlled asset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ADF202-68EC-46AD-BD60-09F1AF61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527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A0C6EB-AA99-4248-8EA7-7FE2B16B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067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User 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E0DC41-A179-47E9-BDC7-CE8E6773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956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B8C2D8-90DA-4ECC-9789-BE0C5C86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6385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EA2DCF-0E99-4A3E-ADDF-FBDB33C4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7528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Wallet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E1EB82-5BDE-4011-818C-477458AE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385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950BCE-81C0-4107-888F-B965E823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9527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8B8C7E-B1D2-4FBD-9068-27CDAB59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067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Verification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474F86-FB8A-46CE-8C05-108B1A43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956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23DDE8-A9F8-4B2E-B891-4FCF9B56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6385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C30152-DFBF-42C6-B30B-4D13F06A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7528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Ledger record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3D8DB4-6005-4B7D-AC7F-EC5FDB8F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6385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63EF5F-E388-436C-B8A0-58D0CD99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9527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37705A-F87C-41D8-95D9-92A9A1B6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067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Audit evidence</a:t>
            </a:r>
          </a:p>
        </p:txBody>
      </p:sp>
    </p:spTree>
    <p:extLst>
      <p:ext uri="{BB962C8B-B14F-4D97-AF65-F5344CB8AC3E}">
        <p14:creationId xmlns:p14="http://schemas.microsoft.com/office/powerpoint/2010/main" val="7477417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FB0DB6-E43F-4CD7-A0F3-D2A035E4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01B17-BA50-45C2-8457-2E894678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16A32-4B6A-4995-9FC0-0867A28C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DFC"/>
                </a:solidFill>
              </a:defRPr>
            </a:pPr>
            <a:r>
              <a:rPr sz="900" b="1">
                <a:solidFill>
                  <a:srgbClr val="155DFC"/>
                </a:solidFill>
              </a:rPr>
              <a:t>RISK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BC051-FE40-4083-9C87-B77A341E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Risk-Control Framework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E5AA9-8B65-4DBA-AA09-C802FB01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Launch readiness depends on a clear safety model: claim controls, approvals, idempotency, audit logs, and rollback.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E9C5D-63E9-47C1-B485-CC37EC7C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8C6B48-475E-4B66-B768-20A44311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L3AI Public Business Plan | PUBLIC-COLLATERAL-020 | Page 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15198A-65FA-47F9-9853-5D09E8AD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Not investment advice. Roadmap items are subject to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B6858-8A0D-4ED4-90DF-CC3015EC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15CDEE-45AE-49B7-A4C3-7F91AFCC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Financial flows require idempotency, reconciliation, and evidence capture.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9350A-84F0-4E0C-9F3D-CA2FE6DD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A9B4FE-F714-4A5A-AC61-29B34FA7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Marketing claims require legal, privacy, and owner approval.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D4B0FF-6E11-43DC-95C5-9458D749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BB7384-6076-40A9-81BF-A2B8F605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Release execution requires gates, observability, and rollback owners.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DA900D-8696-472C-B783-9EBBA2BD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64293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56A723-456E-4015-BB53-538B54F2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Defense layers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8B7487-1807-496E-8789-9D7D87F1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56A71-9020-4972-AAD2-03231E39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860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Claim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DDC965-7FB2-4031-BF3C-F1D660D9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8D120E-5954-44BD-A19A-497ABE4B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860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Idempotency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33CD83-E0CE-427F-826C-B01D56C5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909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AF8934-27F0-43F0-9CAD-3E7BA382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052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Audit trail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2A130C-D813-41A7-AF21-9D6AC827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909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1E9519-2904-430F-A407-F292E449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052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Rate limits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9DD7B4-7891-4638-8837-34833180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100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2056"/>
          </a:solidFill>
          <a:ln xmlns:a="http://schemas.openxmlformats.org/drawingml/2006/main" w="0">
            <a:solidFill>
              <a:srgbClr val="FF205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1EA27B-5796-46AC-A0A5-8313A7AE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243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Rollback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19ED02-824E-4F39-AFF3-3739238E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10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B16CFA-3AFE-478D-8742-E10334DD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24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Public trust</a:t>
            </a:r>
          </a:p>
        </p:txBody>
      </p:sp>
    </p:spTree>
    <p:extLst>
      <p:ext uri="{BB962C8B-B14F-4D97-AF65-F5344CB8AC3E}">
        <p14:creationId xmlns:p14="http://schemas.microsoft.com/office/powerpoint/2010/main" val="13147765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571DD3-7723-4719-8793-A2277E06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A388B-AC99-4198-AD56-F5BAE7F0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389B9-4D32-418E-81E1-A45C3953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DFC"/>
                </a:solidFill>
              </a:defRPr>
            </a:pPr>
            <a:r>
              <a:rPr sz="900" b="1">
                <a:solidFill>
                  <a:srgbClr val="155DFC"/>
                </a:solidFill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ADB18-33CB-444F-BF16-0C2DB4F0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Ecosystem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B966F-BC33-4C4D-8AA0-E9F28DFD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public system connects content, product surfaces, AI context, wallet-aware workflows, community, and operations governance.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18A8F-512E-4815-9243-2833155B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65D46-A7B3-44DE-847F-34545FC1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L3AI Public Business Plan | PUBLIC-COLLATERAL-020 | Page 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180DD-5E23-4542-A794-4805341E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Not investment advice. Roadmap items are subject to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AE11F-2C42-43CD-9AD0-D83F8076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B89E4-F46E-4063-874A-D968280B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The public layer creates trust and onboarding clarity.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0AF49-76DE-4156-AADE-D5CCC3F8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EB12BF-8391-485A-B1A9-C9CBB762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The product layer provides controlled experiences and workflow surfaces.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C859F7-D533-448B-82C8-9B6085A9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6A7A0-D3C8-48BC-A3E1-1997B077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The operations layer keeps release and review decisions traceable.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3CF40F-D0A7-426B-8557-A728BB89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64293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46FD33-DCD3-4E85-9923-C006BE55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Ecosystem map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AE0560-6029-413A-A935-4824EACF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0"/>
            <a:ext cx="1428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184BBE-B4F1-4188-8331-668D5791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5280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L3AI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3D9B2B-9B25-4A10-9007-A38EEB2B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28875"/>
            <a:ext cx="1476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E2BFAF-3DCD-431E-9C44-CFAFD018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543175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Public resources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BB416B-635B-4EB4-A6A8-CA519D58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33625"/>
            <a:ext cx="1476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CC3ABF-910F-45C1-9769-68FA00DE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47925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Product surfaces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7F99DB-3F69-4185-A7FC-CE147EE5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857500"/>
            <a:ext cx="1476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A7BAFB-C39A-49E7-B5FF-EFD5FE9F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97180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AI context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732792-CD87-42BB-A0A3-C322FEC6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524375"/>
            <a:ext cx="1476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DF16FE-40F4-4DDF-9806-5B6A34D5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638675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Wallet-aware flows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408644-C389-4899-BC51-28EAF00F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762500"/>
            <a:ext cx="1476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C61A3B-8A85-43F7-BDAF-7F9CC6B1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87680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Community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86A9D8-75F7-4446-92CE-46A96CE0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000500"/>
            <a:ext cx="1476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9049F8-605C-4351-A975-342F2E52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11480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Operations</a:t>
            </a:r>
          </a:p>
        </p:txBody>
      </p:sp>
    </p:spTree>
    <p:extLst>
      <p:ext uri="{BB962C8B-B14F-4D97-AF65-F5344CB8AC3E}">
        <p14:creationId xmlns:p14="http://schemas.microsoft.com/office/powerpoint/2010/main" val="2251837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FAAC14-66DA-49AB-9409-7A7C339E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CC632-F778-4D3A-9B9D-DE46AC99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E9BF8-18DA-4A37-B290-5530A175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DFC"/>
                </a:solidFill>
              </a:defRPr>
            </a:pPr>
            <a:r>
              <a:rPr sz="900" b="1">
                <a:solidFill>
                  <a:srgbClr val="155DFC"/>
                </a:solidFill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EE11D-8365-48CC-8715-15BA21C3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Current Implementation Snapshot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C196F-6651-4349-90F6-519598A4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Current public evidence is strongest around launch collateral, website export, resource packaging, manifests, and governance workflow.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42372-8F6C-4753-9D3A-58E2A649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A0520-A88C-4AEA-BE88-7AF60A57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L3AI Public Business Plan | PUBLIC-COLLATERAL-020 | Page 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E77A4-78AE-420B-BAEF-B908F1DE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Not investment advice. Roadmap items are subject to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72F13-7FF6-46D3-A048-DD2FA82D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55A74-7D73-4274-9E70-1BD8795D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Live public site and resource center are available through GitHub Pages.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47951-A857-4930-A466-E70DB49D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56F7F-C847-4932-AC54-254589A6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Public whitepaper, business deck, promo video, media kit, FAQ, and asset manifest are prepared.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76D467-FE9C-4AB8-955E-7A460CFA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BF8975-617A-47C5-8B5B-914ADFFA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Release governance and audit language are documented without exposing private implementation details.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353DBF-04EC-4117-8827-45605658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64293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0EB5AD-D46A-4871-A724-63ABA759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Public claim 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309373-BEDA-4FFB-BD4D-301E9455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9557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8FF9AF-6B83-41E2-99AD-4394470A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24125"/>
            <a:ext cx="200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BC7D"/>
          </a:solidFill>
          <a:ln xmlns:a="http://schemas.openxmlformats.org/drawingml/2006/main" w="0">
            <a:solidFill>
              <a:srgbClr val="00BC7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23AE37-3C1D-489B-9E31-9CBCA3C7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384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Live site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96B983-75BD-4915-A1B5-43DEE8C7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003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14158"/>
                </a:solidFill>
              </a:defRPr>
            </a:pPr>
            <a:r>
              <a:rPr sz="1125">
                <a:solidFill>
                  <a:srgbClr val="314158"/>
                </a:solidFill>
              </a:rPr>
              <a:t>Use in public materials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09DA59-1A10-4DB0-B6D8-2838F4E1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7182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0A251D-1AC9-417C-AFB6-057A0F39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00375"/>
            <a:ext cx="200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6F5FDF-E39D-46F2-8DA2-C3350DEB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146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Whitepaper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7DD076-128D-4619-96A0-2ACEE355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765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14158"/>
                </a:solidFill>
              </a:defRPr>
            </a:pPr>
            <a:r>
              <a:rPr sz="1125">
                <a:solidFill>
                  <a:srgbClr val="314158"/>
                </a:solidFill>
              </a:rPr>
              <a:t>Use in public materials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85F8E1-8616-4EF8-9559-B04AE360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64807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721E82-E175-496D-A837-5423EAF1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76625"/>
            <a:ext cx="200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8F2359-D668-4BFB-802C-C85D2EA1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909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45D8A4-9286-42D8-9570-38BEF203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5528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14158"/>
                </a:solidFill>
              </a:defRPr>
            </a:pPr>
            <a:r>
              <a:rPr sz="1125">
                <a:solidFill>
                  <a:srgbClr val="314158"/>
                </a:solidFill>
              </a:rPr>
              <a:t>Label as planned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F07E86-9192-497F-939C-B9C054B5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12432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749F2A-6005-4277-8C80-CB8EBF87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52875"/>
            <a:ext cx="200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2056"/>
          </a:solidFill>
          <a:ln xmlns:a="http://schemas.openxmlformats.org/drawingml/2006/main" w="0">
            <a:solidFill>
              <a:srgbClr val="FF205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CA3D6D-F367-414E-8159-21638058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671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Video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CE8EED-4AC8-4B96-ADE2-8ED7D759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14158"/>
                </a:solidFill>
              </a:defRPr>
            </a:pPr>
            <a:r>
              <a:rPr sz="1125">
                <a:solidFill>
                  <a:srgbClr val="314158"/>
                </a:solidFill>
              </a:rPr>
              <a:t>Requires owner approval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6A4C53-6AF2-4E64-8C9A-0F131107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60057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A0B530-9A67-44B9-918F-3268E34C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29125"/>
            <a:ext cx="200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7F22FE"/>
          </a:solidFill>
          <a:ln xmlns:a="http://schemas.openxmlformats.org/drawingml/2006/main" w="0">
            <a:solidFill>
              <a:srgbClr val="7F22F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8F9433-82B8-43C3-A0F1-DEA15E10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434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FAQ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C756CB-E7EC-4D41-ADD1-049BFE8A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053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14158"/>
                </a:solidFill>
              </a:defRPr>
            </a:pPr>
            <a:r>
              <a:rPr sz="1125">
                <a:solidFill>
                  <a:srgbClr val="314158"/>
                </a:solidFill>
              </a:rPr>
              <a:t>Requires owner approval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831134-5AE3-48F9-B48B-58893AE2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07682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F8D026-2A21-4EC1-A4A0-759FD30D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05375"/>
            <a:ext cx="200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D07941-8249-4BA7-8E6A-040B35AC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196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Manifest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2279D0-3D34-4B83-B91F-689F74DB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9815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14158"/>
                </a:solidFill>
              </a:defRPr>
            </a:pPr>
            <a:r>
              <a:rPr sz="1125">
                <a:solidFill>
                  <a:srgbClr val="314158"/>
                </a:solidFill>
              </a:rPr>
              <a:t>Requires owner approval</a:t>
            </a:r>
          </a:p>
        </p:txBody>
      </p:sp>
    </p:spTree>
    <p:extLst>
      <p:ext uri="{BB962C8B-B14F-4D97-AF65-F5344CB8AC3E}">
        <p14:creationId xmlns:p14="http://schemas.microsoft.com/office/powerpoint/2010/main" val="19561954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E5BEEB-42A4-41D8-8C66-9AE6D20F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04273-06A8-480E-B1D0-E1AE5287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46E55-FB65-4DB3-A94C-CA395FCA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DFC"/>
                </a:solidFill>
              </a:defRPr>
            </a:pPr>
            <a:r>
              <a:rPr sz="900" b="1">
                <a:solidFill>
                  <a:srgbClr val="155DFC"/>
                </a:solidFill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509F2-8BA9-48FC-AF0E-362C1981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Future Roadmap Snapshot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BDC20-CEFF-4F0E-82F1-680E72BE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Roadmap items are presented as planned or under review, not as live delivered product features.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94BA5-5FED-4643-999E-FDAEBB61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B5B19-6DD1-4AA1-89B0-B37105F6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L3AI Public Business Plan | PUBLIC-COLLATERAL-020 | Page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C48C29-24F2-4E70-934E-53CF2020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Not investment advice. Roadmap items are subject to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07CCF-006D-4987-BA9C-E83B28FA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F46B62-E097-4225-A677-B64D4D67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Current: public launch materials and controlled distribution readiness.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2F904-2F26-4553-81FB-F9E1C02D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56D6B4-3C5E-4171-A47F-EE00AFC7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Next: deeper product onboarding, localization, partner packaging, and release analytics.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1BE030-68FD-44B6-AD32-2D5CA443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7DD47-27B5-4595-9836-3F522C56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Future: AI Universe modules, advanced governance, and ecosystem integrations after approval.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EA9DCE-A9C6-432F-A649-A6FEEFAD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64293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A2295B-D028-460E-A4D3-20F2E4FF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Phased roadmap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F539F-5A56-4562-A584-E9FF9D73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766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C5FEC5-1CA8-47C0-A765-32E2FDAF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90875"/>
            <a:ext cx="1428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BC7D"/>
          </a:solidFill>
          <a:ln xmlns:a="http://schemas.openxmlformats.org/drawingml/2006/main" w="0">
            <a:solidFill>
              <a:srgbClr val="00BC7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5095FB-2D4F-4989-AACC-7E8B8E81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0517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070FF7-B849-42CF-AA5D-C24F4CB9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48125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314158"/>
                </a:solidFill>
              </a:defRPr>
            </a:pPr>
            <a:r>
              <a:rPr sz="1050">
                <a:solidFill>
                  <a:srgbClr val="314158"/>
                </a:solidFill>
              </a:rPr>
              <a:t>Live package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34C5DF-7DA5-4CEA-BC4D-C5EC82E6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90875"/>
            <a:ext cx="1428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74ABA7-2A4F-40A2-A2C8-980F135D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0517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8BA13E-7ECA-45B4-91DD-81793BAB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048125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314158"/>
                </a:solidFill>
              </a:defRPr>
            </a:pPr>
            <a:r>
              <a:rPr sz="1050">
                <a:solidFill>
                  <a:srgbClr val="314158"/>
                </a:solidFill>
              </a:rPr>
              <a:t>Approved expansion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945E6F-9BBD-499C-A25C-DFA7CC59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90875"/>
            <a:ext cx="1428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7F22FE"/>
          </a:solidFill>
          <a:ln xmlns:a="http://schemas.openxmlformats.org/drawingml/2006/main" w="0">
            <a:solidFill>
              <a:srgbClr val="7F22F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9D4395-738A-40DE-A290-18317627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0517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Future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5ADFE0-C1B0-4408-9EFF-CA0E7CF6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48125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314158"/>
                </a:solidFill>
              </a:defRPr>
            </a:pPr>
            <a:r>
              <a:rPr sz="1050">
                <a:solidFill>
                  <a:srgbClr val="314158"/>
                </a:solidFill>
              </a:rPr>
              <a:t>Long-range roadmap</a:t>
            </a:r>
          </a:p>
        </p:txBody>
      </p:sp>
    </p:spTree>
    <p:extLst>
      <p:ext uri="{BB962C8B-B14F-4D97-AF65-F5344CB8AC3E}">
        <p14:creationId xmlns:p14="http://schemas.microsoft.com/office/powerpoint/2010/main" val="3625172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F1430C-F8A5-4489-80D8-9942AE1A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1A67D-6CEE-4E37-8464-5A5C9F51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723EC-6887-4061-BDA2-B7F0B5FE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DFC"/>
                </a:solidFill>
              </a:defRPr>
            </a:pPr>
            <a:r>
              <a:rPr sz="900" b="1">
                <a:solidFill>
                  <a:srgbClr val="155DFC"/>
                </a:solidFill>
              </a:rPr>
              <a:t>AI UNIVERSE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BC203-57CE-477E-B116-C771149A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AI Universe Modules Under Development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78D2B-AEB7-403B-BC4B-D0047015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AI Universe is a roadmap theme for connected AI experiences, education modules, and review-led product journeys.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8AB3A-1E2F-44BF-A810-609D90D2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8C050B-1638-479E-8B3C-DF7C2194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L3AI Public Business Plan | PUBLIC-COLLATERAL-020 | Page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9807A-F6DA-4576-9151-4963FB47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Not investment advice. Roadmap items are subject to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FC1356-E715-44E7-978C-CF3E0638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16358B-644A-47F6-AC7A-690A4A51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Roadmap modules may include AI education, scenario review, assistant-guided onboarding, and ecosystem navigation.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36E35-8F10-479C-A718-598B1083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46A8A-79C5-4F75-8DE4-B327A9CF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Module names, release order, and entitlements remain subject to product approval.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21B2AC-476E-49D7-BAFC-88B678CD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0835C4-16F5-4A54-BA5B-07E070F1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Public communication must label these as roadmap or under review.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F77B60-4F43-4BB7-A689-8504AC6C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64293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45919E-D820-4D0F-80E2-48CAE078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AI Universe roadmap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E4D4D4-5D6D-4999-8751-EFC46710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219450"/>
            <a:ext cx="1714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EE92FC-0887-47F6-8100-08E07716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33375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AI Universe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79BBCD-47E8-4889-8CEC-CC36D905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571750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73D5A5-B041-4CB1-A9EB-6C03E312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860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AI education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74A460-1525-4CA2-B9AB-A752C889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28875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D69D20-CA60-4BE3-955D-FE98ECCB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431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Scenario lab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A5A439-E307-4AF3-9AB5-4120A7AE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33875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E1453D-5D68-4FA0-B3B2-09C319A3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481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Assistant onboarding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562FB7-6D71-46EF-A874-203BD1F9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10125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469E98-88E0-4ECE-965C-608D878D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244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Ecosystem navigator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945228-F41B-4C9F-9BAC-C0343CB6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095750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9832D6-7038-4668-8770-DD8E4D3B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100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Governance</a:t>
            </a:r>
          </a:p>
        </p:txBody>
      </p:sp>
    </p:spTree>
    <p:extLst>
      <p:ext uri="{BB962C8B-B14F-4D97-AF65-F5344CB8AC3E}">
        <p14:creationId xmlns:p14="http://schemas.microsoft.com/office/powerpoint/2010/main" val="5616062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9D0339-99FC-43A9-B49B-045479AB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D567C-86E1-4F72-9D53-0A58157E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7476D-3BE9-4341-BD13-06287BBD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DFC"/>
                </a:solidFill>
              </a:defRPr>
            </a:pPr>
            <a:r>
              <a:rPr sz="900" b="1">
                <a:solidFill>
                  <a:srgbClr val="155DFC"/>
                </a:solidFill>
              </a:rPr>
              <a:t>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ED795-B4DF-4FE5-A213-47BC4802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Governance Vision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FD2710-C340-476B-B3B2-5AC4DD99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governance model is built around source of truth, approval owners, evidence records, and explicit release decisions.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AF788-FBF4-43D5-B471-D5232F05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2ADCE-FC3D-4128-9337-234DD86A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L3AI Public Business Plan | PUBLIC-COLLATERAL-020 | Page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36561B-7DC8-4B70-88DB-31E635E5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Not investment advice. Roadmap items are subject to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ED87A-1EA0-4B5A-850D-DF28174A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F57DB-7FAC-4CA3-932D-BC8E3E0B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Task tables, release matrices, manifests, and approval records create traceability.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1C97F-4E76-41BE-AF69-8437CB75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34226C-4418-49D3-8F90-0CFAEA3A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Human approvals remain required for legal, privacy, security, and public readiness.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E93EB-DFEA-4481-9331-3BB58BE4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5AA4D5-DDB1-46A2-8046-F080EFF7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Completed work should not re-enter the default queue without a new task ID.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E019C0-D42B-43D8-ABD5-E3017410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64293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90EA9B-E432-45DF-B50C-131EF94C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Governance stack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F16DA9-8F9F-4255-B568-8B5C9E4C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0125"/>
            <a:ext cx="3429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B43564-0653-488E-830F-CB5AC97B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244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Source of truth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2E7656-9F1D-4E9C-9F2C-8F2C2E16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9575"/>
            <a:ext cx="3429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B86B67-927A-4A51-83B5-F5B34CA6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338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Owner approval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7EDDEF-223B-4D10-94B2-733DE0E6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29025"/>
            <a:ext cx="3429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A68A95-B078-4FD4-9DE1-4C310453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433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DE3BC9-FB63-4EBA-BE21-39E6D128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38475"/>
            <a:ext cx="3429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66F274-B1AA-41BA-80C0-5AD430F7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527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Release 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5A34AF-8A2B-45AE-8CDA-A050ACD0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47925"/>
            <a:ext cx="3429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B1CBA3-D01D-4299-86B2-4C2664B8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622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Post-launch review</a:t>
            </a:r>
          </a:p>
        </p:txBody>
      </p:sp>
    </p:spTree>
    <p:extLst>
      <p:ext uri="{BB962C8B-B14F-4D97-AF65-F5344CB8AC3E}">
        <p14:creationId xmlns:p14="http://schemas.microsoft.com/office/powerpoint/2010/main" val="5736791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1EADA3-018C-4CD5-A56A-2986EC21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4E655-1734-40AC-BF67-283DB94B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246D50-ACD9-477D-8140-3E0C1B52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DFC"/>
                </a:solidFill>
              </a:defRPr>
            </a:pPr>
            <a:r>
              <a:rPr sz="900" b="1">
                <a:solidFill>
                  <a:srgbClr val="155DFC"/>
                </a:solidFill>
              </a:rPr>
              <a:t>TOKEN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35456-C642-4CC4-8DCB-052A14A1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Token and Ecosystem Architecture 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23D90-C97A-42DD-82FF-0D86D99D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Any token, utility, reward, or ecosystem-rights language must remain approval-gated unless final legal and product policy approves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BD83E-6229-4327-A102-3FDC9D9F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059BF-F815-47E6-8174-D5305213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L3AI Public Business Plan | PUBLIC-COLLATERAL-020 | Page 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73AC7-FA41-46D5-A770-C7CECD6F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Not investment advice. Roadmap items are subject to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33952-AEB7-4A79-BEB4-C7141A35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05A1D-01FA-45AF-BB79-417338B3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Safe now: ecosystem concept, governance intent, and public education.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0BB34-CF77-4F3E-AF75-8ADF5E84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F974A-9E69-4227-BEEB-03484F79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Approval-gated: token mechanics, issuance, utility, pricing, reward value, and exchange language.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7E9366-5102-4E43-97F8-A4BC6D03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0997B8-D865-4633-8D61-5AA836E0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Never imply profit, listing certainty, or guaranteed asset appreciation.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A333BB-158F-4027-917B-790ED298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64293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063479-FB8B-448D-A9A2-30050A51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Token language boundary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138BC6-6802-45DC-9045-E3C463EF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19375"/>
            <a:ext cx="2286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0BC7D"/>
          </a:solidFill>
          <a:ln xmlns:a="http://schemas.openxmlformats.org/drawingml/2006/main" w="0">
            <a:solidFill>
              <a:srgbClr val="00BC7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5FC7B0-6980-4F46-8A64-1EB0A8B3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33675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Safe narrative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980E95-5DF2-491E-9DFD-C12D8457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19375"/>
            <a:ext cx="2286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791A00-0AE0-45CE-84E3-1EB4E1D7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33675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Policy required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3A1CA7-F7E5-4819-8397-C623C752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95750"/>
            <a:ext cx="2286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7F22FE"/>
          </a:solidFill>
          <a:ln xmlns:a="http://schemas.openxmlformats.org/drawingml/2006/main" w="0">
            <a:solidFill>
              <a:srgbClr val="7F22F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C67FF3-1AEB-4AAA-8DA2-5EF59B4E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1005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Legal required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C856EA-04E6-472D-BAD3-D4D36F05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286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2056"/>
          </a:solidFill>
          <a:ln xmlns:a="http://schemas.openxmlformats.org/drawingml/2006/main" w="0">
            <a:solidFill>
              <a:srgbClr val="FF205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EF33A8-1423-4064-9FD6-D31FE881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Do not claim</a:t>
            </a:r>
          </a:p>
        </p:txBody>
      </p:sp>
    </p:spTree>
    <p:extLst>
      <p:ext uri="{BB962C8B-B14F-4D97-AF65-F5344CB8AC3E}">
        <p14:creationId xmlns:p14="http://schemas.microsoft.com/office/powerpoint/2010/main" val="62390554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D3A887-79F5-4541-8F0D-A6F33285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52510-5F8E-4393-902C-14E5FF01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20027-B724-4483-A75F-59289E1D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DFC"/>
                </a:solidFill>
              </a:defRPr>
            </a:pPr>
            <a:r>
              <a:rPr sz="900" b="1">
                <a:solidFill>
                  <a:srgbClr val="155DFC"/>
                </a:solidFill>
              </a:rPr>
              <a:t>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49F46-7429-42E8-91A6-689476B4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Operations Strategy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9EDC0-BB60-40E5-AF02-AE81A79B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Launch operations should prioritize controlled release, asset integrity, monitoring, support, and rollback readiness.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25C52-FE4D-459E-81E6-7BC83605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15FEA-CB7B-4815-A7D4-E56F0FA6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L3AI Public Business Plan | PUBLIC-COLLATERAL-020 | Page 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36835-647E-4A27-8D9D-312A9C87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Not investment advice. Roadmap items are subject to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CB211-82CD-4ABC-AB17-A5305959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5667A-DAC1-4397-84AB-1090D038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Manifest-driven assets make every public file traceable.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497BAA-18BB-4A26-AAF5-6296CD49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AC9F0-A7BE-4644-8C64-D7D7E2C5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Manual workflow dispatch and approval gates reduce accidental publication risk.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5277F1-2D15-4B59-BF89-3819385C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BC8E25-3D64-47FB-8893-CEDAB607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Monitoring, incident handling, and rollback owners support safe rollout.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87B687-5667-461B-BF08-B632CDC7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64293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BD528B-F610-4829-B5A2-3D913570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Release operating loop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4293F9-5F0B-40CC-B5AF-E11CFFF1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14625"/>
            <a:ext cx="1428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F69064-E20D-4D8A-9716-EB50C3A5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289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FF5990-1BC3-457D-8F18-8A485268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14625"/>
            <a:ext cx="1428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8ECCB3-B2C9-43EC-8E98-0B6B1FC9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289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Validate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1F3197-5AFA-4E0F-90F1-782745C3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14625"/>
            <a:ext cx="1428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8B8BE8-8C21-4E92-8483-6306DBCF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289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Approve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2BE7D3-8809-4032-AF41-10CCCBAF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57625"/>
            <a:ext cx="1428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590B80-EBF1-48CD-9FD3-91B6C592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9719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Release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45E99F-ABF7-414B-827E-EC468185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857625"/>
            <a:ext cx="1428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1D4B6B-1674-4FE5-AFFD-CF8EEDF0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9719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Monitor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07C4B3-CDFF-43FA-8C92-85EF35DA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857625"/>
            <a:ext cx="1428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F0B318-DE3A-4DF0-B524-2B88559F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719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Rollback</a:t>
            </a:r>
          </a:p>
        </p:txBody>
      </p:sp>
    </p:spTree>
    <p:extLst>
      <p:ext uri="{BB962C8B-B14F-4D97-AF65-F5344CB8AC3E}">
        <p14:creationId xmlns:p14="http://schemas.microsoft.com/office/powerpoint/2010/main" val="126204514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0B0723-90F3-4EF1-8AD1-050EC03C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F1C1A-1137-478F-8CAE-3C7EE174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A99105-B745-4EED-94F8-FBB7E3EB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DFC"/>
                </a:solidFill>
              </a:defRPr>
            </a:pPr>
            <a:r>
              <a:rPr sz="900" b="1">
                <a:solidFill>
                  <a:srgbClr val="155DFC"/>
                </a:solidFill>
              </a:rPr>
              <a:t>GO TO MARKET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4CBA8-808B-42CC-8D71-9FAAEB35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GTM Strategy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812D3-78D1-4910-A73C-1205A9FA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launch plan starts with owned public resources, then expands through media, partners, community, and localized content.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66B10-A9C9-4132-862E-5029254E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5078E-5C73-4D2B-BDE8-EF525096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L3AI Public Business Plan | PUBLIC-COLLATERAL-020 | Page 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B0424-D8FB-4EAC-AFBC-F1F8D8C1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Not investment advice. Roadmap items are subject to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85AF2E-E223-4898-B00E-FF0A4ACE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1A696-A137-469D-9559-5171861D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Owned channels: GitHub Pages site, resource center, whitepaper, deck, video, FAQ.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378F7-8E5A-4C24-B5A1-477F2D95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A3B0DD-89F8-41B8-9EF8-7AEB850A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Partner channels: media kit, press package, social payloads, and community explainers.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0E05E-6C0F-4BE3-8C99-8F7B0F74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457F8C-9F15-4FE4-8425-F6BC7D83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Growth loop: educate, answer, collect feedback, refine, and expand.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DA49C2-2FFE-4ACF-BB2A-D6507409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64293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C017E2-A160-472D-A282-2972ACB2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Growth route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C5E796-D9DD-4928-B86B-724D5896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47625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046D8C-0F6C-42DB-A7C1-69BBD8E5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38425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Owned site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97F27A-6294-466D-9C79-B08B5564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76575"/>
            <a:ext cx="40957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D221E3-7F11-4BAD-BCAC-4E70802C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190875"/>
            <a:ext cx="3905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Media kit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C8F6F0-B5C8-481B-8564-5F1187A9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29025"/>
            <a:ext cx="34290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0024CE-122F-4A02-A234-F6B2665E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43325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Community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E96B44-9CA6-419A-812C-6B6ACD5F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81475"/>
            <a:ext cx="27622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FB96CE-89A6-4D73-9548-21A8217C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29577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Partners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58C8EF-E3B0-4529-91A5-694BC52C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33925"/>
            <a:ext cx="20955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F50098-179A-4463-B379-12A1EC01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482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Feedback</a:t>
            </a:r>
          </a:p>
        </p:txBody>
      </p:sp>
    </p:spTree>
    <p:extLst>
      <p:ext uri="{BB962C8B-B14F-4D97-AF65-F5344CB8AC3E}">
        <p14:creationId xmlns:p14="http://schemas.microsoft.com/office/powerpoint/2010/main" val="38872088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361988-C841-432F-9668-44103268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3DBBA-1693-4527-A766-47D246CD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124BB-0748-4C51-B877-1A1B2556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DFC"/>
                </a:solidFill>
              </a:defRPr>
            </a:pPr>
            <a:r>
              <a:rPr sz="900" b="1">
                <a:solidFill>
                  <a:srgbClr val="155DFC"/>
                </a:solidFill>
              </a:rPr>
              <a:t>CUSTOMER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D80F6-4227-4056-8FFA-B2CC8E33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Customer and Partner Value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5BFFF-BF34-4A9E-8FCC-6FDD8C55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Each audience receives a different value proposition while sharing the same public-safe source materials.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9DF8C-7A36-4287-912F-900C4E2B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BD7CE-41B8-4678-A0F9-E57760A9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L3AI Public Business Plan | PUBLIC-COLLATERAL-020 | Page 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AD0139-12F7-4D5D-81C0-3AA138A5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Not investment advice. Roadmap items are subject to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D50ED-8C1B-4E95-9CD7-D305DE0D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18D56-ECCC-4C55-AC63-8B537A4C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Customers get product clarity and safer onboarding language.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88342-6E75-4721-A8B5-13AF1A79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9D8D9-11E8-4BE6-BE7E-DDEF6875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Partners get consistent assets and positioning.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B8160-E2ED-451A-8CAA-21CDA4ED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21813-28B6-43FA-8001-1FC212B9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Operators get release discipline and evidence trails.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6468FA-F253-4406-BDF9-26C58704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3D5049-1671-46C4-8454-66AD217A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00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Investor-style reviewers get a coherent model without unsupported financial claims.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BF7F7E-D30B-4D83-89CB-DCE60240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64293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F4FA3B-D714-4B3D-A1F0-21AE3AD1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Audience value 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4AB893-E8D9-4415-AE65-9950C5AE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19375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264136-DD81-4574-8DF1-BA2EC575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33675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Customers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3DD46B-EFAF-458A-A01A-AB590317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542D75-64D4-483F-BF2B-BA84743A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33675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Partners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0634FC-EEB8-4D79-BA7A-87973E5E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38625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DC76EF-939F-4019-BE1F-AAE082C4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52925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Operators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3237CC-3773-4A99-AFCA-4E757B58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38625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8BB1D2-60F1-451B-9C6C-B193E967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352925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Reviewers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A50983-9089-44EA-A574-5547B059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43300"/>
            <a:ext cx="2667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650D9C-5B34-4C59-8097-23D370C6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576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One approved source of truth</a:t>
            </a:r>
          </a:p>
        </p:txBody>
      </p:sp>
    </p:spTree>
    <p:extLst>
      <p:ext uri="{BB962C8B-B14F-4D97-AF65-F5344CB8AC3E}">
        <p14:creationId xmlns:p14="http://schemas.microsoft.com/office/powerpoint/2010/main" val="53236237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B60E20-FFD2-4952-B9A4-657808AC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D4F91-C50B-47CE-853D-04A05633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21179-6E32-40C5-81E1-D8D6878F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DFC"/>
                </a:solidFill>
              </a:defRPr>
            </a:pPr>
            <a:r>
              <a:rPr sz="900" b="1">
                <a:solidFill>
                  <a:srgbClr val="155DFC"/>
                </a:solidFill>
              </a:rPr>
              <a:t>INVESTOR 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DD18B-4AEA-4F5F-8DF4-8F413B31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Investor Review Lens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D7E5B-C6F2-434D-A52C-DA5CECBF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deck supports investor-style review by organizing product scope, commercialization logic, risk controls, and roadmap assumptions.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60BBF-C0FE-4AE8-BF53-1AD3E7F6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81D48-D31B-4ADC-891B-11A29BB3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L3AI Public Business Plan | PUBLIC-COLLATERAL-020 | Page 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225E2-B6D4-410A-9D86-BD684DA2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Not investment advice. Roadmap items are subject to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766BC-AAEF-4952-8C0A-D5B0888E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8E7AF9-2D10-4505-884A-091DBDC5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Product proof: public site, content system, collateral package, distribution manifests.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4EA5B-9D82-41AA-B7B4-4B9CDD30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F026B-9D9F-466C-8CC0-84990977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Commercial logic: access, subscription, services, partner and enterprise categories.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291E0-16B6-491E-8676-E3D5F57E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E66713-D588-41E6-9E73-5712120A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Risk posture: claim discipline, staged release, audit evidence, approval gates.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723191-939B-4C47-81C4-DCEB3F3D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64293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D25894-D990-445A-A0F3-0F4A2B87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Review scorecard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FE9C89-CCA8-475D-92F4-E9D564D9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3365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AE8E78-6788-4709-90A0-A1A2AF08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479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Product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BF7205-F769-442D-9241-B083DABC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05100"/>
            <a:ext cx="2476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7D"/>
          </a:solidFill>
          <a:ln xmlns:a="http://schemas.openxmlformats.org/drawingml/2006/main" w="0">
            <a:solidFill>
              <a:srgbClr val="00BC7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030436-303C-48A4-B618-B56B45DD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76575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032741-28B9-4DA4-AE9D-7E9C80E0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Market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08C7A8-AF07-4238-BE48-E860C927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48025"/>
            <a:ext cx="27051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7D"/>
          </a:solidFill>
          <a:ln xmlns:a="http://schemas.openxmlformats.org/drawingml/2006/main" w="0">
            <a:solidFill>
              <a:srgbClr val="00BC7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19F6BA-0531-40D6-A74B-CEEBB2FF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1950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5426A1-B214-4B57-9A1F-52A298DB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33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1B761C-FF13-4CC1-969E-8128ACE2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790950"/>
            <a:ext cx="2933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7D"/>
          </a:solidFill>
          <a:ln xmlns:a="http://schemas.openxmlformats.org/drawingml/2006/main" w="0">
            <a:solidFill>
              <a:srgbClr val="00BC7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9E2E85-24D6-458A-BBD1-C114977A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62425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8786EF-B71E-4451-90D0-ACEEFB53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767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2C3FCD-1221-4DB6-AC06-145D32DD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333875"/>
            <a:ext cx="31623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021D4F-6B5B-43E1-9A54-92D02ED8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0535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08393A-A837-4833-907E-97AAFE21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196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D51E9D-9E79-450E-8AA8-7AD7D7F9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876800"/>
            <a:ext cx="3390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2195700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8270FC-F77F-48EF-BE0E-D86B46E5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F5452-E19A-45B5-ABDD-33882C51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A8B10-103C-49A8-A361-7C28FEA8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DFC"/>
                </a:solidFill>
              </a:defRPr>
            </a:pPr>
            <a:r>
              <a:rPr sz="900" b="1">
                <a:solidFill>
                  <a:srgbClr val="155DFC"/>
                </a:solidFill>
              </a:rPr>
              <a:t>KPI FRAMEWORK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E17A7-6F06-4589-9D28-8A9EF841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Measurement Framework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1E2CD-6230-4F0B-8CFA-64BF00C4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Metrics should be used to learn and operate; this deck does not invent performance claims.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5E237-F826-4F76-8386-379878AE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7964A-5281-48E3-8E98-51CCCB3E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L3AI Public Business Plan | PUBLIC-COLLATERAL-020 | Page 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38040-B4D6-454A-9324-129F0F8B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Not investment advice. Roadmap items are subject to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90357C-6C37-4F84-B0DA-84F5FCDD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12924-6041-4F38-B254-8E276386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Awareness: resource views, downloads, video completions.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1AFBD4-C8F4-45EB-8729-774E8D69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948CA-0C59-482F-8DE8-FCF6964A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Activation: onboarding completion, FAQ resolution, support touchpoints.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98C8D8-36EA-4158-ADFD-F8A81542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A7588-9AFB-4C19-9954-C367B8EF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Trust: approval cycle time, incident response, claim review defects.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7B1341-D9A6-4486-B884-77398794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8C4047-83C7-492A-A882-A847A8B4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00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Growth: partner leads, community participation, repeat engagement.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3E8661-3F7D-46DE-B12E-F62D8DEE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64293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C8317D-02B2-41D2-886F-C4CFDB4C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Category 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E4EC25-7E32-44DB-9FF6-3E9FBB2F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71750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7C96F8-272D-49E6-A70C-BBDCDA60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86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Awareness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997616-7528-4B66-9AB7-82151FBF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9525">
            <a:solidFill>
              <a:srgbClr val="155DF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6218C7-9E76-4901-8EDB-995A9947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Public-safe category only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C1441D-39A7-4AFA-AD5A-3E280B0A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95625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C71BE3-353F-421C-B436-4FEE2B46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099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Activation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06FFC1-B507-4238-97D6-F508F23F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95625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C69F6F-1E0B-430B-959F-9A3301DB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908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20618"/>
                </a:solidFill>
              </a:defRPr>
            </a:pPr>
            <a:r>
              <a:rPr sz="1050">
                <a:solidFill>
                  <a:srgbClr val="020618"/>
                </a:solidFill>
              </a:rPr>
              <a:t>Requires approved policy before exact claims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CFB90F-C494-452D-9610-9363DA1E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19500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37C41C-0120-4048-9C2B-29230187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33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Trust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7B0FE7-7852-4E46-AC46-89545F90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1950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1855F4-B494-4C86-98CB-A0AE071A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14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20618"/>
                </a:solidFill>
              </a:defRPr>
            </a:pPr>
            <a:r>
              <a:rPr sz="1050">
                <a:solidFill>
                  <a:srgbClr val="020618"/>
                </a:solidFill>
              </a:rPr>
              <a:t>Requires approved policy before exact claims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D7A494-D3F4-4C6A-9C5B-BE245218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43375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B814DC-3E1F-4402-B0CD-D818812B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576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Growth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3D78F8-2991-4BA3-817B-8D06641E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43375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8855BB-064E-4C80-88AA-1DE37514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386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20618"/>
                </a:solidFill>
              </a:defRPr>
            </a:pPr>
            <a:r>
              <a:rPr sz="1050">
                <a:solidFill>
                  <a:srgbClr val="020618"/>
                </a:solidFill>
              </a:rPr>
              <a:t>Requires approved policy before exact claims</a:t>
            </a:r>
          </a:p>
        </p:txBody>
      </p:sp>
    </p:spTree>
    <p:extLst>
      <p:ext uri="{BB962C8B-B14F-4D97-AF65-F5344CB8AC3E}">
        <p14:creationId xmlns:p14="http://schemas.microsoft.com/office/powerpoint/2010/main" val="186652044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6744BC-8ACE-45AD-A4FE-6C42A2DE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CBB8B-FC5A-4064-82BD-CCECA078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BD2B1-0371-4D52-9310-D9B96008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DFC"/>
                </a:solidFill>
              </a:defRPr>
            </a:pPr>
            <a:r>
              <a:rPr sz="900" b="1">
                <a:solidFill>
                  <a:srgbClr val="155DFC"/>
                </a:solidFill>
              </a:rPr>
              <a:t>ASSET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9E65B-E8B8-45A1-8C26-04AE035C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Public Asset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706ED-2529-4EF4-AA4D-BC5A9AAB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public package is designed for traceable distribution across web, documents, video, media, and social preparation.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0598C-DB1F-4A5B-AD6B-07A36DE3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4D117-4FB7-4323-9119-F934587E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L3AI Public Business Plan | PUBLIC-COLLATERAL-020 | Page 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ACAD0-DB43-44DF-AA2A-0276EAD1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Not investment advice. Roadmap items are subject to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8BF02F-CD8E-4F6C-8F1E-6CE99435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EBC4F-5A23-4D9B-B668-7A3424B5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Primary assets: whitepaper, business plan deck, promo video, FAQ, resource center.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BB178-20EB-489F-A5AB-A8707492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F5F24A-54B3-444B-98DE-FA368304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Support assets: media kit, press kit, social images, manifests, sitemap.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ADD235-2063-45FE-916F-D9DC5661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9719D1-39B4-4823-BCCC-637E13F5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Each tracked asset can be checksumed, linked, and reviewed.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977E88-F2E4-4693-961B-425E9900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64293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BE28BD-B07E-4CFA-B374-A3B4F935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Asset hierarchy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45F2E9-E6D9-4929-BDA2-B445E1EF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24125"/>
            <a:ext cx="2143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7F6142-E805-4812-8A43-94ADE984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3842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Whitepaper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F00DE2-80A7-4A40-AFA7-2BE24CA8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24125"/>
            <a:ext cx="2143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789D11-D053-41B0-8DFE-76E93EEE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3842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E61C3F-1143-440C-A98A-07D1B60B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62325"/>
            <a:ext cx="2143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306B71-10EB-4910-83C5-CE70E66E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7662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Video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7DDD40-4795-447A-8AFE-B612B2E1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62325"/>
            <a:ext cx="2143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9DA356-921F-43A8-A02E-77302F10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7662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FAQ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59C216-3AB1-45E5-895F-0E4B051A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200525"/>
            <a:ext cx="2143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CCFF77-75AD-4AB3-9E3A-30B2182C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1482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Media kit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F51C14-DFFD-45AA-9AB2-0164E8CB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00525"/>
            <a:ext cx="2143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723247-95DA-48CF-AB96-E5CECD63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1482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Manifest</a:t>
            </a:r>
          </a:p>
        </p:txBody>
      </p:sp>
    </p:spTree>
    <p:extLst>
      <p:ext uri="{BB962C8B-B14F-4D97-AF65-F5344CB8AC3E}">
        <p14:creationId xmlns:p14="http://schemas.microsoft.com/office/powerpoint/2010/main" val="80340252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AE4323-DB0D-430A-9FB7-E0C3B833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09636-F995-4CC2-AC49-D06EC5BF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3DA7F-5BDC-48DA-97B3-C7146894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DFC"/>
                </a:solidFill>
              </a:defRPr>
            </a:pPr>
            <a:r>
              <a:rPr sz="900" b="1">
                <a:solidFill>
                  <a:srgbClr val="155DFC"/>
                </a:solidFill>
              </a:rPr>
              <a:t>TIMELINE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A719F-D1A7-4FFF-BD62-0E9880FC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Phased 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A28B0-AD8B-42A6-AF03-0E921C18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roadmap is organized as Current, Next, and Future to avoid unsupported date commitments.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AF32FE-FE71-41A1-AC1D-2B241C51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0BEE2-560B-407B-9000-A7ACEF94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L3AI Public Business Plan | PUBLIC-COLLATERAL-020 | Page 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86FDA-D719-46EF-B798-AB921242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Not investment advice. Roadmap items are subject to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92BADB-4972-4675-9950-3DE682FE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D1908-4BD4-41F2-9B64-8599F115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Current: public resources, launch package, distribution readiness.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FEBD71-584C-4089-BB4D-BCF0AC7A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05BF93-DEF9-455F-B87B-52375AC4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Next: product onboarding, community education, localization, partner enablement.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01C413-4937-4A15-962E-BB9871B8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29E40A-4B3A-4DF4-84C5-8607B860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Future: AI Universe, advanced governance, ecosystem modules, deeper integrations.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A65EA-CE38-4651-84E0-689BBC18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64293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8B58AB-D2EC-4CE7-A7E5-C3E7A817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Phased roadmap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B508D6-A588-41B0-AECE-91049BB5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766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61CD55-4E47-40B5-8133-39A19878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90875"/>
            <a:ext cx="1428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BC7D"/>
          </a:solidFill>
          <a:ln xmlns:a="http://schemas.openxmlformats.org/drawingml/2006/main" w="0">
            <a:solidFill>
              <a:srgbClr val="00BC7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B6C50C-C22B-4BD1-8A74-B0053227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0517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6507AC-462F-4762-8546-B7616695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48125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314158"/>
                </a:solidFill>
              </a:defRPr>
            </a:pPr>
            <a:r>
              <a:rPr sz="1050">
                <a:solidFill>
                  <a:srgbClr val="314158"/>
                </a:solidFill>
              </a:rPr>
              <a:t>Live package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D950FD-94A4-4CAF-B3BC-DE3BFF86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90875"/>
            <a:ext cx="1428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020E6B-6BAB-4675-A4DC-9309AF16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0517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83080F-61AB-4798-A5B0-43898F13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048125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314158"/>
                </a:solidFill>
              </a:defRPr>
            </a:pPr>
            <a:r>
              <a:rPr sz="1050">
                <a:solidFill>
                  <a:srgbClr val="314158"/>
                </a:solidFill>
              </a:rPr>
              <a:t>Approved expansion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6DB49D-7CA4-4D4D-B5C2-9301BAE1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90875"/>
            <a:ext cx="1428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7F22FE"/>
          </a:solidFill>
          <a:ln xmlns:a="http://schemas.openxmlformats.org/drawingml/2006/main" w="0">
            <a:solidFill>
              <a:srgbClr val="7F22F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5A1BA8-C1A4-4862-BDE9-5DD2BF4E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0517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Future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492688-8027-4566-9CBA-DA3755D5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48125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314158"/>
                </a:solidFill>
              </a:defRPr>
            </a:pPr>
            <a:r>
              <a:rPr sz="1050">
                <a:solidFill>
                  <a:srgbClr val="314158"/>
                </a:solidFill>
              </a:rPr>
              <a:t>Long-range roadmap</a:t>
            </a:r>
          </a:p>
        </p:txBody>
      </p:sp>
    </p:spTree>
    <p:extLst>
      <p:ext uri="{BB962C8B-B14F-4D97-AF65-F5344CB8AC3E}">
        <p14:creationId xmlns:p14="http://schemas.microsoft.com/office/powerpoint/2010/main" val="138252573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D5BE80-B189-4BC5-9976-99E3D56A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87137-37E4-42EB-88BD-6619FDFB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1C11A-203C-4F24-B552-F7D7CA9E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DFC"/>
                </a:solidFill>
              </a:defRPr>
            </a:pPr>
            <a:r>
              <a:rPr sz="900" b="1">
                <a:solidFill>
                  <a:srgbClr val="155DFC"/>
                </a:solidFill>
              </a:rPr>
              <a:t>FAQ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BC4E9-EDED-4F12-A0FB-BBEDB07C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Frequently Asked 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D0037-C8B7-44B2-B851-34D88886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public FAQ helps set expectations before users, media, or partners form incorrect assumptions.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EAE82-4C7D-4A31-B886-52E30AA7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16185-19A3-43CF-8DAC-96E1D817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L3AI Public Business Plan | PUBLIC-COLLATERAL-020 | Page 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B1648-BA2F-4E29-956D-62D9B976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Not investment advice. Roadmap items are subject to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F5CA0-D481-4B0C-AB2B-E5DFC0AD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B6A13-71AA-415B-A70B-E8FAF183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Is L3AI financial advice? No. Public materials should not be read as investment advice.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FB5EE2-1C68-44C1-B99B-B99CD0BB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5F988-788D-4BAA-9AAC-B391F702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Are roadmap modules live? No. Roadmap items are planned or under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EAE1B8-CCA7-4CBA-B663-402031D1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489D19-44D4-48BF-806A-8BDC5487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Are returns guaranteed? No. Do not communicate guaranteed outcomes.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D8E572-2862-414C-916E-7CA9A3A0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C5B08F-A645-446E-AD99-96779540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00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Can partners use these materials? Yes, with approved public links and current versions.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08AAE8-2933-4F41-889D-4184092B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64293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0DECF2-8BB7-423F-AEB7-67CE414C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Question 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59A67A-A1EA-4CD0-A223-C8927FCB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6225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3667CE-7417-4C0A-952B-33BE843B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765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Advice?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F57F3F-E5BB-4A1A-9868-2474590C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6225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08AF57-2CB0-45CD-B3A5-A273F87D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765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Roadmap?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5BF619-B83F-4843-BBE0-F10EDAFD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52875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59D809-FCEC-449A-8D4E-58474507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671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Returns?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1A9C98-5178-42D2-ACF9-6FDDC9E3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52875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1BAF84-A459-44AB-88DC-68A4A305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671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Partners?</a:t>
            </a:r>
          </a:p>
        </p:txBody>
      </p:sp>
    </p:spTree>
    <p:extLst>
      <p:ext uri="{BB962C8B-B14F-4D97-AF65-F5344CB8AC3E}">
        <p14:creationId xmlns:p14="http://schemas.microsoft.com/office/powerpoint/2010/main" val="108914418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1599B9-A0AD-41D7-A9DE-A9362DA3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961C2-EE6A-4ACF-B729-28FC8F6C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3E3CE-09A0-4150-A147-77E7D134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DFC"/>
                </a:solidFill>
              </a:defRPr>
            </a:pPr>
            <a:r>
              <a:rPr sz="900" b="1">
                <a:solidFill>
                  <a:srgbClr val="155DFC"/>
                </a:solidFill>
              </a:rPr>
              <a:t>COMPLIANCE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AC309-AD9F-4FE5-B5CF-0918A172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Claim Guardrails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F046D-E27C-44E9-A88F-9D0C6433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public narrative must remain consistent with legal, privacy, product, and security approval boundaries.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2919A-1CD3-4D82-951F-8051E5EE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734EC-8FE2-436C-8D10-F39189D3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L3AI Public Business Plan | PUBLIC-COLLATERAL-020 | Page 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50AA9B-BECC-4C08-B0E2-541574FF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Not investment advice. Roadmap items are subject to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9142D8-AFCD-430E-AE0E-776DF45E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D3D2E-4AE0-4F36-81FA-FCCF1815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No private repository links, local paths, secrets, internal task labels, or exploit details.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8C5611-EB61-4333-BD0D-E0B0A288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9B7B47-CCA8-4B69-8F52-C3765091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No guaranteed profit, APY, yield, token price, listing, or investment recommendation.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CCBDA-B22D-4C03-893D-84EE9B13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489001-1FCD-4D80-8407-3F30C0A4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No planned feature should be described as live unless approved and evidenced.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22B8D1-EFC3-4F84-82AF-3CE1181E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64293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8C1B38-3B61-4D46-AEAB-9ABEF9B6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Public guardrails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CFF330-D92B-4EC2-B4D5-F41DD751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43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25F100-9BF2-4A4D-A9F8-F1035019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17195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No secrets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458BA4-5F03-479E-847A-92D38AFA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056"/>
          </a:solidFill>
          <a:ln xmlns:a="http://schemas.openxmlformats.org/drawingml/2006/main" w="0">
            <a:solidFill>
              <a:srgbClr val="FF205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4CA4F7-FB4D-4ABD-AB50-3A843704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7195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No guarantees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892E97-78B4-4977-83DE-39500811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43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16A14B-3679-4639-A9F4-1A361880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17195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No private paths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F5302B-1322-49C4-BE00-2BD455CF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5AF948-7C17-46D5-8CD3-7B612EF4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7195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No unapproved claims</a:t>
            </a:r>
          </a:p>
        </p:txBody>
      </p:sp>
    </p:spTree>
    <p:extLst>
      <p:ext uri="{BB962C8B-B14F-4D97-AF65-F5344CB8AC3E}">
        <p14:creationId xmlns:p14="http://schemas.microsoft.com/office/powerpoint/2010/main" val="59266083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BED74A-869C-4C31-9F4B-573C3CE2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F6AE7-478C-4231-87F0-5E34888E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ACA02-4C55-4C1D-8C62-85A12464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DFC"/>
                </a:solidFill>
              </a:defRPr>
            </a:pPr>
            <a:r>
              <a:rPr sz="900" b="1">
                <a:solidFill>
                  <a:srgbClr val="155DFC"/>
                </a:solidFill>
              </a:rPr>
              <a:t>DISTRIBUTION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5B6EC-BFF8-4EA9-A33D-185E7B3D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Launch Distribution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536EF-47CB-4B51-A2A9-A045303C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Distribution is designed as a controlled sequence: prepare, validate, approve, publish, monitor, and update.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47916-3216-4EB3-822A-9B492EF8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37849-CD1F-4EB1-9B5A-B992E613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L3AI Public Business Plan | PUBLIC-COLLATERAL-020 | Page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62610-48E6-4C06-B5B4-6808F8E7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Not investment advice. Roadmap items are subject to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11CD9-D199-4D20-B9C9-6464CF54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BAD5D-26A3-4CA4-B35E-929A5783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Prepare assets and manifests before release.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8F7035-94F5-4997-BD42-323391BA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8A4CC-77E7-45AD-90BE-AB6C315A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Validate links, checksums, and public-safe content.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DD7BA-55E4-4C59-AE42-1E1632F4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24F7BA-6E4C-4917-8A7F-D35BBC47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Publish only after owner approval and monitor after release.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653E1C-16D5-4CA0-944D-37F99B4A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64293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402E03-C973-4D51-92D5-2F730607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Sequenced 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4D26F9-470C-4D60-AF13-F999C9D3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33750"/>
            <a:ext cx="904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19ADC5-F3C7-4C1A-838E-0C43F582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48050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Prepare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060D8F-707D-4B60-9DD8-BC910504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5433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49D07D-8B62-4BDA-82E6-E6C88A34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904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530B57-7728-4A96-A63B-B98805AB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48050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Validate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B056D4-488D-4BD8-9B34-D9A4EA22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5433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73CE20-22C8-43A6-839A-35E8F9BA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0"/>
            <a:ext cx="904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C4E845-93C0-4866-9A1B-5AEECBB7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48050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Approve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B8340B-BDCB-4D6B-9C13-64BD3F24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5433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638D19-78E2-45B3-B872-C6576E4D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904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57E4C6-9387-4BDC-B326-4277DA4A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48050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Publish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677A9E-F547-4E13-8850-13755D0B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5433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98B1F4-CA96-43A9-9C8A-B1B4E0E3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904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B80263-CED3-4120-B71B-4693F623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48050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Monitor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E9C673-4250-4C3E-9802-0C945836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5433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E9B951-446C-44A3-8DFE-D3ADB923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333750"/>
            <a:ext cx="904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3EC74E-7250-4D47-8FD2-7CC41411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48050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Update</a:t>
            </a:r>
          </a:p>
        </p:txBody>
      </p:sp>
    </p:spTree>
    <p:extLst>
      <p:ext uri="{BB962C8B-B14F-4D97-AF65-F5344CB8AC3E}">
        <p14:creationId xmlns:p14="http://schemas.microsoft.com/office/powerpoint/2010/main" val="157638105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BBB427-A990-4A51-B0BC-6952BC19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CA9D5-1491-431E-BD6D-6488C1D0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A653E-9355-4BB2-A593-8685668B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DFC"/>
                </a:solidFill>
              </a:defRPr>
            </a:pPr>
            <a:r>
              <a:rPr sz="900" b="1">
                <a:solidFill>
                  <a:srgbClr val="155DFC"/>
                </a:solidFill>
              </a:rPr>
              <a:t>DECISION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9C9A6-BE24-4BA2-B20E-A506E57B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What We Need From Each Audience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5BD90-B592-4EA1-9485-05359703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best action depends on whether the reviewer is a customer, partner, operator, or investor-style stakeholder.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AEE05-6025-4D60-A854-1E604432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A6D1A-38ED-4D05-826F-301543AA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L3AI Public Business Plan | PUBLIC-COLLATERAL-020 | Page 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A7E3E-4CBB-4FAD-AF33-1F3400B7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Not investment advice. Roadmap items are subject to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A09BA-E743-4012-908F-2E3C2931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E32944-0001-4A11-83D6-136B7CA1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Customers: read the whitepaper and FAQ before taking product actions.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54298-15CF-4157-A815-C7DBE2F4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B3B14-F7DB-4A1B-B10E-B937154B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Partners: use the official resource center and media kit.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81F586-A28A-40F7-8ACC-4823EA12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E8AE5-29B1-4681-B7DD-8AC6A7A3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Operators: follow release runbooks and approval gates.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842549-268C-42A2-801B-FB7D7827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58CD6C-741D-4388-A042-6225B855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00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Reviewers: evaluate product scope, commercial model, controls, and roadmap boundaries.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47CED4-DE90-436B-803E-E11819F8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90700"/>
            <a:ext cx="64293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9404A4-2770-4D1A-A42D-FC6C9336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Next action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42A2E4-72E2-4FF5-941B-91E2C8DC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114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4B59D5-6210-4227-8E01-4663421A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575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5163BE-9553-439D-9FBE-20176B67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52875"/>
            <a:ext cx="114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827248-0FB7-49C8-AB8E-DF560F86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0671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0DBF47-4AB7-41E2-B239-C2E61DF1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114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9D7DBF-2EF7-43D2-B194-F294A75F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Align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544D87-04A2-4AAB-8BB9-69760C0D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952875"/>
            <a:ext cx="114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0A8830-1215-4E7D-85DF-9E0A3977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0671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Decide</a:t>
            </a:r>
          </a:p>
        </p:txBody>
      </p:sp>
    </p:spTree>
    <p:extLst>
      <p:ext uri="{BB962C8B-B14F-4D97-AF65-F5344CB8AC3E}">
        <p14:creationId xmlns:p14="http://schemas.microsoft.com/office/powerpoint/2010/main" val="214510131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3361F1-ACE3-4C9D-9CFE-AB8CCB7F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87A9F-A076-4E03-9E4F-4A2702C2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4EDE6-DB50-4971-9A2B-2975F922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55DFC"/>
                </a:solidFill>
              </a:defRPr>
            </a:pPr>
            <a:r>
              <a:rPr sz="900" b="1">
                <a:solidFill>
                  <a:srgbClr val="155DFC"/>
                </a:solidFill>
              </a:rPr>
              <a:t>CLOSING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21255-37A4-420D-B10E-A07A5394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L3AI Is Ready For Public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E1DCA-7A97-4382-BC73-EF8E106C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public package now combines product narrative, business model, investor-style structure, risk controls, and release-ready downloads.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51F1B-888F-48AC-B383-82678DD7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08B4F-2640-4E1A-9D95-72B15D6B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L3AI Public Business Plan | PUBLIC-COLLATERAL-020 | Page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72FC75-9B19-41F8-A00D-0ABEDEE2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2748E"/>
                </a:solidFill>
              </a:defRPr>
            </a:pPr>
            <a:r>
              <a:rPr sz="750">
                <a:solidFill>
                  <a:srgbClr val="62748E"/>
                </a:solidFill>
              </a:rPr>
              <a:t>Not investment advice. Roadmap items are subject to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A7395-8012-4BDB-911E-3938D0D3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DE246-630B-4016-97C6-5FD572F2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Start with the Resource Center.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60015-2EAF-4223-BA8D-5362ED40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A52D13-F528-495C-A2D8-17F68FA0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Use the current deck, whitepaper, promo video, media kit, and FAQ.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4AD42C-4B8F-4122-B5AC-F25B47F2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EC81D2-0CB8-4A22-967B-61F16007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20618"/>
                </a:solidFill>
              </a:defRPr>
            </a:pPr>
            <a:r>
              <a:rPr sz="1275">
                <a:solidFill>
                  <a:srgbClr val="020618"/>
                </a:solidFill>
              </a:rPr>
              <a:t>Keep all external messaging aligned to approved public materials.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2F2996-1EB7-4B5F-A9D8-A510FA3B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19250"/>
            <a:ext cx="6429375" cy="4333875"/>
          </a:xfrm>
          <a:prstGeom xmlns:a="http://schemas.openxmlformats.org/drawingml/2006/main" prst="roundRect">
            <a:avLst>
              <a:gd name="adj" fmla="val 2637"/>
            </a:avLst>
          </a:prstGeom>
          <a:solidFill xmlns:a="http://schemas.openxmlformats.org/drawingml/2006/main">
            <a:srgbClr val="193CB8"/>
          </a:solidFill>
          <a:ln xmlns:a="http://schemas.openxmlformats.org/drawingml/2006/main" w="0">
            <a:solidFill>
              <a:srgbClr val="193C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9A4E6-9ED8-496F-BD38-3AE05EC8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114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2F4FD"/>
                </a:solidFill>
              </a:defRPr>
            </a:pPr>
            <a:r>
              <a:rPr sz="975" b="1">
                <a:solidFill>
                  <a:srgbClr val="A2F4FD"/>
                </a:solidFill>
              </a:rPr>
              <a:t>SOURCE OF TRUTH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8D9A8-039D-435A-8AE5-938F94D6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47950"/>
            <a:ext cx="4714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Use the live Resource Center for the latest approved files.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35377E-01A3-4764-89C5-FD56702E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286250"/>
            <a:ext cx="24288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58375F-ED56-4BEA-89E1-037FDD99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40055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Resource Center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41F68F-3576-4B40-BAA1-8D6A466A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86250"/>
            <a:ext cx="24288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64E8E6-E216-41E4-B20E-B8C75F10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0055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Whitepaper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DF300D-2943-45A6-88BD-BFF5A229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972050"/>
            <a:ext cx="24288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AD7D62-B9B2-4B51-B22F-B6A123AA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08635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Business Plan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0BB0C0-07BE-42B1-BCB6-DAA6794C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72050"/>
            <a:ext cx="24288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B8DB"/>
          </a:solidFill>
          <a:ln xmlns:a="http://schemas.openxmlformats.org/drawingml/2006/main" w="0">
            <a:solidFill>
              <a:srgbClr val="00B8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BED4B8-7CE6-471E-8204-827071B0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8635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Promo Video</a:t>
            </a:r>
          </a:p>
        </p:txBody>
      </p:sp>
    </p:spTree>
    <p:extLst>
      <p:ext uri="{BB962C8B-B14F-4D97-AF65-F5344CB8AC3E}">
        <p14:creationId xmlns:p14="http://schemas.microsoft.com/office/powerpoint/2010/main" val="15773025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2026-07-01T13:53:27.2180000Z</dcterms:created>
  <dcterms:modified xsi:type="dcterms:W3CDTF">2026-07-01T13:53:27.2180000Z</dcterms:modified>
</coreProperties>
</file>