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8b609d82a34df0" /><Relationship Type="http://schemas.openxmlformats.org/officeDocument/2006/relationships/extended-properties" Target="/docProps/app.xml" Id="Rc7f2be2f502c490a" /><Relationship Type="http://schemas.openxmlformats.org/officeDocument/2006/relationships/officeDocument" Target="/ppt/presentation.xml" Id="Ref8946937c1644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a353c6d3d5c43cb"/>
  </p:sldMasterIdLst>
  <p:notesMasterIdLst>
    <p:notesMasterId xmlns:r="http://schemas.openxmlformats.org/officeDocument/2006/relationships" r:id="Rc3ab10d5b7ea43ea"/>
  </p:notesMasterIdLst>
  <p:sldIdLst>
    <p:sldId xmlns:r="http://schemas.openxmlformats.org/officeDocument/2006/relationships" id="256" r:id="Rf1c5da01eb994a3a"/>
    <p:sldId xmlns:r="http://schemas.openxmlformats.org/officeDocument/2006/relationships" id="257" r:id="R02efd5f94d4a4730"/>
    <p:sldId xmlns:r="http://schemas.openxmlformats.org/officeDocument/2006/relationships" id="258" r:id="R81dccd0aa95a4187"/>
    <p:sldId xmlns:r="http://schemas.openxmlformats.org/officeDocument/2006/relationships" id="259" r:id="R4b173fec3e6c42c2"/>
    <p:sldId xmlns:r="http://schemas.openxmlformats.org/officeDocument/2006/relationships" id="260" r:id="Rbb35ca4a5ac84c86"/>
    <p:sldId xmlns:r="http://schemas.openxmlformats.org/officeDocument/2006/relationships" id="261" r:id="Rfe09bc10a316495e"/>
    <p:sldId xmlns:r="http://schemas.openxmlformats.org/officeDocument/2006/relationships" id="262" r:id="Ra8adf557fa0a4997"/>
    <p:sldId xmlns:r="http://schemas.openxmlformats.org/officeDocument/2006/relationships" id="263" r:id="Rb90649a523264f9d"/>
    <p:sldId xmlns:r="http://schemas.openxmlformats.org/officeDocument/2006/relationships" id="264" r:id="R6a35d832443b4f10"/>
    <p:sldId xmlns:r="http://schemas.openxmlformats.org/officeDocument/2006/relationships" id="265" r:id="Rb94a455be07a4058"/>
    <p:sldId xmlns:r="http://schemas.openxmlformats.org/officeDocument/2006/relationships" id="266" r:id="Rcfb73001d4ea43e9"/>
    <p:sldId xmlns:r="http://schemas.openxmlformats.org/officeDocument/2006/relationships" id="267" r:id="Rbf4fe7431b914c00"/>
    <p:sldId xmlns:r="http://schemas.openxmlformats.org/officeDocument/2006/relationships" id="268" r:id="R87d0b8639ed74034"/>
    <p:sldId xmlns:r="http://schemas.openxmlformats.org/officeDocument/2006/relationships" id="269" r:id="Rd1dac3a05edd4d9c"/>
    <p:sldId xmlns:r="http://schemas.openxmlformats.org/officeDocument/2006/relationships" id="270" r:id="Re9e81ae547ce44a9"/>
    <p:sldId xmlns:r="http://schemas.openxmlformats.org/officeDocument/2006/relationships" id="271" r:id="Rbf84382e55c84760"/>
    <p:sldId xmlns:r="http://schemas.openxmlformats.org/officeDocument/2006/relationships" id="272" r:id="R2c15ffe96553457d"/>
    <p:sldId xmlns:r="http://schemas.openxmlformats.org/officeDocument/2006/relationships" id="273" r:id="R131d6ec2aa81441a"/>
    <p:sldId xmlns:r="http://schemas.openxmlformats.org/officeDocument/2006/relationships" id="274" r:id="Rcb24d72e87e54b3c"/>
    <p:sldId xmlns:r="http://schemas.openxmlformats.org/officeDocument/2006/relationships" id="275" r:id="Ra4fbd9a709844d9d"/>
    <p:sldId xmlns:r="http://schemas.openxmlformats.org/officeDocument/2006/relationships" id="276" r:id="R5790b8ae06d94233"/>
    <p:sldId xmlns:r="http://schemas.openxmlformats.org/officeDocument/2006/relationships" id="277" r:id="Rc58d2968f4bb438c"/>
    <p:sldId xmlns:r="http://schemas.openxmlformats.org/officeDocument/2006/relationships" id="278" r:id="Rcc5ac0ddec2142ff"/>
    <p:sldId xmlns:r="http://schemas.openxmlformats.org/officeDocument/2006/relationships" id="279" r:id="Re9453ab7f475418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c2133daeca44ff3" /><Relationship Type="http://schemas.openxmlformats.org/officeDocument/2006/relationships/slideMaster" Target="/ppt/slideMasters/slideMaster1.xml" Id="R1a353c6d3d5c43cb" /><Relationship Type="http://schemas.openxmlformats.org/officeDocument/2006/relationships/notesMaster" Target="/ppt/notesMasters/notesMaster1.xml" Id="Rc3ab10d5b7ea43ea" /><Relationship Type="http://schemas.openxmlformats.org/officeDocument/2006/relationships/presProps" Target="/ppt/presProps.xml" Id="R98fbc8e7c95448c3" /><Relationship Type="http://schemas.openxmlformats.org/officeDocument/2006/relationships/tableStyles" Target="/ppt/tableStyles.xml" Id="Rcb8ef0e11d1b4a7b" /><Relationship Type="http://schemas.openxmlformats.org/officeDocument/2006/relationships/slide" Target="/ppt/slides/slide1.xml" Id="Rf1c5da01eb994a3a" /><Relationship Type="http://schemas.openxmlformats.org/officeDocument/2006/relationships/slide" Target="/ppt/slides/slide2.xml" Id="R02efd5f94d4a4730" /><Relationship Type="http://schemas.openxmlformats.org/officeDocument/2006/relationships/slide" Target="/ppt/slides/slide3.xml" Id="R81dccd0aa95a4187" /><Relationship Type="http://schemas.openxmlformats.org/officeDocument/2006/relationships/slide" Target="/ppt/slides/slide4.xml" Id="R4b173fec3e6c42c2" /><Relationship Type="http://schemas.openxmlformats.org/officeDocument/2006/relationships/slide" Target="/ppt/slides/slide5.xml" Id="Rbb35ca4a5ac84c86" /><Relationship Type="http://schemas.openxmlformats.org/officeDocument/2006/relationships/slide" Target="/ppt/slides/slide6.xml" Id="Rfe09bc10a316495e" /><Relationship Type="http://schemas.openxmlformats.org/officeDocument/2006/relationships/slide" Target="/ppt/slides/slide7.xml" Id="Ra8adf557fa0a4997" /><Relationship Type="http://schemas.openxmlformats.org/officeDocument/2006/relationships/slide" Target="/ppt/slides/slide8.xml" Id="Rb90649a523264f9d" /><Relationship Type="http://schemas.openxmlformats.org/officeDocument/2006/relationships/slide" Target="/ppt/slides/slide9.xml" Id="R6a35d832443b4f10" /><Relationship Type="http://schemas.openxmlformats.org/officeDocument/2006/relationships/slide" Target="/ppt/slides/slide10.xml" Id="Rb94a455be07a4058" /><Relationship Type="http://schemas.openxmlformats.org/officeDocument/2006/relationships/slide" Target="/ppt/slides/slide11.xml" Id="Rcfb73001d4ea43e9" /><Relationship Type="http://schemas.openxmlformats.org/officeDocument/2006/relationships/slide" Target="/ppt/slides/slide12.xml" Id="Rbf4fe7431b914c00" /><Relationship Type="http://schemas.openxmlformats.org/officeDocument/2006/relationships/slide" Target="/ppt/slides/slide13.xml" Id="R87d0b8639ed74034" /><Relationship Type="http://schemas.openxmlformats.org/officeDocument/2006/relationships/slide" Target="/ppt/slides/slide14.xml" Id="Rd1dac3a05edd4d9c" /><Relationship Type="http://schemas.openxmlformats.org/officeDocument/2006/relationships/slide" Target="/ppt/slides/slide15.xml" Id="Re9e81ae547ce44a9" /><Relationship Type="http://schemas.openxmlformats.org/officeDocument/2006/relationships/slide" Target="/ppt/slides/slide16.xml" Id="Rbf84382e55c84760" /><Relationship Type="http://schemas.openxmlformats.org/officeDocument/2006/relationships/slide" Target="/ppt/slides/slide17.xml" Id="R2c15ffe96553457d" /><Relationship Type="http://schemas.openxmlformats.org/officeDocument/2006/relationships/slide" Target="/ppt/slides/slide18.xml" Id="R131d6ec2aa81441a" /><Relationship Type="http://schemas.openxmlformats.org/officeDocument/2006/relationships/slide" Target="/ppt/slides/slide19.xml" Id="Rcb24d72e87e54b3c" /><Relationship Type="http://schemas.openxmlformats.org/officeDocument/2006/relationships/slide" Target="/ppt/slides/slide20.xml" Id="Ra4fbd9a709844d9d" /><Relationship Type="http://schemas.openxmlformats.org/officeDocument/2006/relationships/slide" Target="/ppt/slides/slide21.xml" Id="R5790b8ae06d94233" /><Relationship Type="http://schemas.openxmlformats.org/officeDocument/2006/relationships/slide" Target="/ppt/slides/slide22.xml" Id="Rc58d2968f4bb438c" /><Relationship Type="http://schemas.openxmlformats.org/officeDocument/2006/relationships/slide" Target="/ppt/slides/slide23.xml" Id="Rcc5ac0ddec2142ff" /><Relationship Type="http://schemas.openxmlformats.org/officeDocument/2006/relationships/slide" Target="/ppt/slides/slide24.xml" Id="Re9453ab7f475418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5000c14aa464d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ecee56a6ca439f" /><Relationship Type="http://schemas.openxmlformats.org/officeDocument/2006/relationships/notesMaster" Target="/ppt/notesMasters/notesMaster1.xml" Id="R89440c649a864f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a4d00f02d43499e" /><Relationship Type="http://schemas.openxmlformats.org/officeDocument/2006/relationships/notesMaster" Target="/ppt/notesMasters/notesMaster1.xml" Id="R5022839cf65c488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aefdefbde3243c9" /><Relationship Type="http://schemas.openxmlformats.org/officeDocument/2006/relationships/notesMaster" Target="/ppt/notesMasters/notesMaster1.xml" Id="Rd7d40aaa1c46444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a466a15c2d54083" /><Relationship Type="http://schemas.openxmlformats.org/officeDocument/2006/relationships/notesMaster" Target="/ppt/notesMasters/notesMaster1.xml" Id="Re3d2ef2958bb400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6604a71a3d94936" /><Relationship Type="http://schemas.openxmlformats.org/officeDocument/2006/relationships/notesMaster" Target="/ppt/notesMasters/notesMaster1.xml" Id="R33d765cfa2ab421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2acfdda5eed4e91" /><Relationship Type="http://schemas.openxmlformats.org/officeDocument/2006/relationships/notesMaster" Target="/ppt/notesMasters/notesMaster1.xml" Id="Rfdf6c15cbab147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6a41fbc63d241cf" /><Relationship Type="http://schemas.openxmlformats.org/officeDocument/2006/relationships/notesMaster" Target="/ppt/notesMasters/notesMaster1.xml" Id="R4ebb8e6282754bb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14ae52531a4984" /><Relationship Type="http://schemas.openxmlformats.org/officeDocument/2006/relationships/notesMaster" Target="/ppt/notesMasters/notesMaster1.xml" Id="Rc1be61fa669342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26cebcb81a24ca1" /><Relationship Type="http://schemas.openxmlformats.org/officeDocument/2006/relationships/notesMaster" Target="/ppt/notesMasters/notesMaster1.xml" Id="R4247fe5dfdc1496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ed06ebe97d84a70" /><Relationship Type="http://schemas.openxmlformats.org/officeDocument/2006/relationships/notesMaster" Target="/ppt/notesMasters/notesMaster1.xml" Id="R7a4e3f5fbb97433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0de253a604e4efe" /><Relationship Type="http://schemas.openxmlformats.org/officeDocument/2006/relationships/notesMaster" Target="/ppt/notesMasters/notesMaster1.xml" Id="R37cb38c3cf4e48b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8167f2ec75e4471" /><Relationship Type="http://schemas.openxmlformats.org/officeDocument/2006/relationships/notesMaster" Target="/ppt/notesMasters/notesMaster1.xml" Id="R6dbaefd2fc11485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06bfc0afa3b4db2" /><Relationship Type="http://schemas.openxmlformats.org/officeDocument/2006/relationships/notesMaster" Target="/ppt/notesMasters/notesMaster1.xml" Id="Rd004c2325557453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c8022799e024350" /><Relationship Type="http://schemas.openxmlformats.org/officeDocument/2006/relationships/notesMaster" Target="/ppt/notesMasters/notesMaster1.xml" Id="R0c6113e2ec804c8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0d135e790964ede" /><Relationship Type="http://schemas.openxmlformats.org/officeDocument/2006/relationships/notesMaster" Target="/ppt/notesMasters/notesMaster1.xml" Id="R9d1cc1843ea4472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e83784157d446b0" /><Relationship Type="http://schemas.openxmlformats.org/officeDocument/2006/relationships/notesMaster" Target="/ppt/notesMasters/notesMaster1.xml" Id="R9b76040e15a1448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4294ebfb3fb4278" /><Relationship Type="http://schemas.openxmlformats.org/officeDocument/2006/relationships/notesMaster" Target="/ppt/notesMasters/notesMaster1.xml" Id="Rb112ebb809bd4f7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7ac1b5c5584402f" /><Relationship Type="http://schemas.openxmlformats.org/officeDocument/2006/relationships/notesMaster" Target="/ppt/notesMasters/notesMaster1.xml" Id="R67bbca8c68714e5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6a2fb7750e14a5b" /><Relationship Type="http://schemas.openxmlformats.org/officeDocument/2006/relationships/notesMaster" Target="/ppt/notesMasters/notesMaster1.xml" Id="Rcdd4f4880ea4452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beb3c83033d4ab9" /><Relationship Type="http://schemas.openxmlformats.org/officeDocument/2006/relationships/notesMaster" Target="/ppt/notesMasters/notesMaster1.xml" Id="R6f51e765dd564b3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e9a912117824fcb" /><Relationship Type="http://schemas.openxmlformats.org/officeDocument/2006/relationships/notesMaster" Target="/ppt/notesMasters/notesMaster1.xml" Id="R9a1d6ba1bd0f436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bd3d127faca47d8" /><Relationship Type="http://schemas.openxmlformats.org/officeDocument/2006/relationships/notesMaster" Target="/ppt/notesMasters/notesMaster1.xml" Id="Rfb74ed2b2124465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ab7b455f776401d" /><Relationship Type="http://schemas.openxmlformats.org/officeDocument/2006/relationships/notesMaster" Target="/ppt/notesMasters/notesMaster1.xml" Id="Rfce1f12aa7d74f3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819befd4f3d4bcd" /><Relationship Type="http://schemas.openxmlformats.org/officeDocument/2006/relationships/notesMaster" Target="/ppt/notesMasters/notesMaster1.xml" Id="Rbbc7fd9f46154a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1: L3AI Public Business Plan</a:t>
            </a:r>
          </a:p>
          <a:p xmlns:a="http://schemas.openxmlformats.org/drawingml/2006/main">
            <a:r>
              <a:t>Message: AI-native financial intelligence for Web3 education and risk-aware navigation</a:t>
            </a:r>
          </a:p>
          <a:p xmlns:a="http://schemas.openxmlformats.org/drawingml/2006/main">
            <a:r>
              <a:t>Talking points: Public collateral v1.0; Bilingual launch package; No investment advice.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2: Executive Thesis</a:t>
            </a:r>
          </a:p>
          <a:p xmlns:a="http://schemas.openxmlformats.org/drawingml/2006/main">
            <a:r>
              <a:t>Message: A clearer context layer for complex Web3 products</a:t>
            </a:r>
          </a:p>
          <a:p xmlns:a="http://schemas.openxmlformats.org/drawingml/2006/main">
            <a:r>
              <a:t>Talking points: Users need explanation before action; Public trust depends on source-backed materials; L3AI connects education, wallet-aware journeys, and community learning.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3: Market Problem</a:t>
            </a:r>
          </a:p>
          <a:p xmlns:a="http://schemas.openxmlformats.org/drawingml/2006/main">
            <a:r>
              <a:t>Message: Fragmented signals create avoidable risk</a:t>
            </a:r>
          </a:p>
          <a:p xmlns:a="http://schemas.openxmlformats.org/drawingml/2006/main">
            <a:r>
              <a:t>Talking points: Market content, wallet states, product modules, and community posts are split across channels; Users face cognitive overload and inconsistent interpretation; Operators need controlled public materials.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4: User Pain Points</a:t>
            </a:r>
          </a:p>
          <a:p xmlns:a="http://schemas.openxmlformats.org/drawingml/2006/main">
            <a:r>
              <a:t>Message: The category needs better translation</a:t>
            </a:r>
          </a:p>
          <a:p xmlns:a="http://schemas.openxmlformats.org/drawingml/2006/main">
            <a:r>
              <a:t>Talking points: Technical language is hard to parse; Risk notes appear too late; Community hype can outrun product facts; Public resources often become stale.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5: L3AI Positioning</a:t>
            </a:r>
          </a:p>
          <a:p xmlns:a="http://schemas.openxmlformats.org/drawingml/2006/main">
            <a:r>
              <a:t>Message: AI-native context, not financial prediction</a:t>
            </a:r>
          </a:p>
          <a:p xmlns:a="http://schemas.openxmlformats.org/drawingml/2006/main">
            <a:r>
              <a:t>Talking points: Explain product and market context; Organize public learning paths; Support risk-aware navigation; Avoid guaranteed outcomes.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6: Product Modules</a:t>
            </a:r>
          </a:p>
          <a:p xmlns:a="http://schemas.openxmlformats.org/drawingml/2006/main">
            <a:r>
              <a:t>Message: Four user-facing layers</a:t>
            </a:r>
          </a:p>
          <a:p xmlns:a="http://schemas.openxmlformats.org/drawingml/2006/main">
            <a:r>
              <a:t>Talking points: AI market context; Wallet-aware product education; Plain-language onboarding; Community and ecosystem learning.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7: AI Capability</a:t>
            </a:r>
          </a:p>
          <a:p xmlns:a="http://schemas.openxmlformats.org/drawingml/2006/main">
            <a:r>
              <a:t>Message: Structured explanation engine</a:t>
            </a:r>
          </a:p>
          <a:p xmlns:a="http://schemas.openxmlformats.org/drawingml/2006/main">
            <a:r>
              <a:t>Talking points: Summaries and FAQs; Risk-aware prompts; Bilingual public copy; Versioned resource manifests.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8: Wallet-Aware Experience</a:t>
            </a:r>
          </a:p>
          <a:p xmlns:a="http://schemas.openxmlformats.org/drawingml/2006/main">
            <a:r>
              <a:t>Message: Helpful context without private exposure</a:t>
            </a:r>
          </a:p>
          <a:p xmlns:a="http://schemas.openxmlformats.org/drawingml/2006/main">
            <a:r>
              <a:t>Talking points: Conceptual wallet journeys; No private wallet data in public assets; No instant-withdrawal or performance claims.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9: Trust And Safety</a:t>
            </a:r>
          </a:p>
          <a:p xmlns:a="http://schemas.openxmlformats.org/drawingml/2006/main">
            <a:r>
              <a:t>Message: Review-gated public communication</a:t>
            </a:r>
          </a:p>
          <a:p xmlns:a="http://schemas.openxmlformats.org/drawingml/2006/main">
            <a:r>
              <a:t>Talking points: No secrets or local paths; No invented partners or metrics; No fake balances or screenshots; No guaranteed returns.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10: Commercial Framework</a:t>
            </a:r>
          </a:p>
          <a:p xmlns:a="http://schemas.openxmlformats.org/drawingml/2006/main">
            <a:r>
              <a:t>Message: Conservative monetization paths</a:t>
            </a:r>
          </a:p>
          <a:p xmlns:a="http://schemas.openxmlformats.org/drawingml/2006/main">
            <a:r>
              <a:t>Talking points: Education-led platform access; Partner-safe content systems; Enterprise intelligence tooling; Any offer requires separate approval.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11: Go-To-Market</a:t>
            </a:r>
          </a:p>
          <a:p xmlns:a="http://schemas.openxmlformats.org/drawingml/2006/main">
            <a:r>
              <a:t>Message: Content-led launch motion</a:t>
            </a:r>
          </a:p>
          <a:p xmlns:a="http://schemas.openxmlformats.org/drawingml/2006/main">
            <a:r>
              <a:t>Talking points: Website resource center; Whitepaper and BP deck; Long-form promo video; Social payloads and media kit.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12: Community Strategy</a:t>
            </a:r>
          </a:p>
          <a:p xmlns:a="http://schemas.openxmlformats.org/drawingml/2006/main">
            <a:r>
              <a:t>Message: Learning before hype</a:t>
            </a:r>
          </a:p>
          <a:p xmlns:a="http://schemas.openxmlformats.org/drawingml/2006/main">
            <a:r>
              <a:t>Talking points: Moderated information flows; FAQ routing; Approved announcements; Channel-owner sign-off.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13: Operations Model</a:t>
            </a:r>
          </a:p>
          <a:p xmlns:a="http://schemas.openxmlformats.org/drawingml/2006/main">
            <a:r>
              <a:t>Message: Versioned public asset control</a:t>
            </a:r>
          </a:p>
          <a:p xmlns:a="http://schemas.openxmlformats.org/drawingml/2006/main">
            <a:r>
              <a:t>Talking points: Prepare assets; Validate links and checksums; Publish through approved channels; Maintain rollback path.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14: Launch Assets</a:t>
            </a:r>
          </a:p>
          <a:p xmlns:a="http://schemas.openxmlformats.org/drawingml/2006/main">
            <a:r>
              <a:t>Message: The public package is now resource-ready</a:t>
            </a:r>
          </a:p>
          <a:p xmlns:a="http://schemas.openxmlformats.org/drawingml/2006/main">
            <a:r>
              <a:t>Talking points: Whitepaper HTML/PDF; Business plan PPTX/PDF; 3-minute promo video; Script, subtitles, storyboard, manifest.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15: Roadmap</a:t>
            </a:r>
          </a:p>
          <a:p xmlns:a="http://schemas.openxmlformats.org/drawingml/2006/main">
            <a:r>
              <a:t>Message: Phased public readiness</a:t>
            </a:r>
          </a:p>
          <a:p xmlns:a="http://schemas.openxmlformats.org/drawingml/2006/main">
            <a:r>
              <a:t>Talking points: Foundation materials; Website and FAQ; Community learning; Product education depth; Partner-safe media.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16: Risk Register</a:t>
            </a:r>
          </a:p>
          <a:p xmlns:a="http://schemas.openxmlformats.org/drawingml/2006/main">
            <a:r>
              <a:t>Message: Known public risks and mitigations</a:t>
            </a:r>
          </a:p>
          <a:p xmlns:a="http://schemas.openxmlformats.org/drawingml/2006/main">
            <a:r>
              <a:t>Talking points: Misunderstood AI scope -&gt; disclaimers; Unsupported claims -&gt; review gate; Localization drift -&gt; bilingual QA; Stale links -&gt; manifest validation.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17: Compliance Position</a:t>
            </a:r>
          </a:p>
          <a:p xmlns:a="http://schemas.openxmlformats.org/drawingml/2006/main">
            <a:r>
              <a:t>Message: Information and education only</a:t>
            </a:r>
          </a:p>
          <a:p xmlns:a="http://schemas.openxmlformats.org/drawingml/2006/main">
            <a:r>
              <a:t>Talking points: Not financial advice; No deposit instruction; No investment promise; Users verify independently.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18: Data And Privacy</a:t>
            </a:r>
          </a:p>
          <a:p xmlns:a="http://schemas.openxmlformats.org/drawingml/2006/main">
            <a:r>
              <a:t>Message: Public hygiene as a launch requirement</a:t>
            </a:r>
          </a:p>
          <a:p xmlns:a="http://schemas.openxmlformats.org/drawingml/2006/main">
            <a:r>
              <a:t>Talking points: No production data; No admin screenshots; No tokens or local paths; No private repository exposure.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19: Competitive Edge</a:t>
            </a:r>
          </a:p>
          <a:p xmlns:a="http://schemas.openxmlformats.org/drawingml/2006/main">
            <a:r>
              <a:t>Message: Operational discipline as brand trust</a:t>
            </a:r>
          </a:p>
          <a:p xmlns:a="http://schemas.openxmlformats.org/drawingml/2006/main">
            <a:r>
              <a:t>Talking points: Source-backed content; Bilingual parity; Public manifest discipline; Bridge-to-release workflow.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20: Stakeholder Value</a:t>
            </a:r>
          </a:p>
          <a:p xmlns:a="http://schemas.openxmlformats.org/drawingml/2006/main">
            <a:r>
              <a:t>Message: Why each audience cares</a:t>
            </a:r>
          </a:p>
          <a:p xmlns:a="http://schemas.openxmlformats.org/drawingml/2006/main">
            <a:r>
              <a:t>Talking points: Users get clearer learning paths; Communities get safer discussion materials; Operators get controlled assets; Partners get reviewable context.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21: KPIs To Approve Later</a:t>
            </a:r>
          </a:p>
          <a:p xmlns:a="http://schemas.openxmlformats.org/drawingml/2006/main">
            <a:r>
              <a:t>Message: Measure clarity before conversion pressure</a:t>
            </a:r>
          </a:p>
          <a:p xmlns:a="http://schemas.openxmlformats.org/drawingml/2006/main">
            <a:r>
              <a:t>Talking points: Resource-page engagement; FAQ completion; Video watch depth; Community question quality.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22: Investor Conversation</a:t>
            </a:r>
          </a:p>
          <a:p xmlns:a="http://schemas.openxmlformats.org/drawingml/2006/main">
            <a:r>
              <a:t>Message: What can be discussed safely</a:t>
            </a:r>
          </a:p>
          <a:p xmlns:a="http://schemas.openxmlformats.org/drawingml/2006/main">
            <a:r>
              <a:t>Talking points: Category and positioning; Operating model; Risk controls; Roadmap and readiness, without invented financials.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23: Next Actions</a:t>
            </a:r>
          </a:p>
          <a:p xmlns:a="http://schemas.openxmlformats.org/drawingml/2006/main">
            <a:r>
              <a:t>Message: Move from assets to approved channel operation</a:t>
            </a:r>
          </a:p>
          <a:p xmlns:a="http://schemas.openxmlformats.org/drawingml/2006/main">
            <a:r>
              <a:t>Talking points: Use official public URLs; Keep owner approvals attached; Refresh manifest after every change; Run link and file validation.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24: Closing</a:t>
            </a:r>
          </a:p>
          <a:p xmlns:a="http://schemas.openxmlformats.org/drawingml/2006/main">
            <a:r>
              <a:t>Message: L3AI is ready for a controlled public story</a:t>
            </a:r>
          </a:p>
          <a:p xmlns:a="http://schemas.openxmlformats.org/drawingml/2006/main">
            <a:r>
              <a:t>Talking points: AI-native; Source-backed; Bilingual; Risk-aware. Keep the narration educational and avoid claims about returns, deposits, licensing, partners, or performance unless separately approved.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f2515fb0d84bf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3010c189d014827" /><Relationship Type="http://schemas.openxmlformats.org/officeDocument/2006/relationships/slideLayout" Target="/ppt/slideLayouts/slideLayout1.xml" Id="Rf239b4533feb477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39b4533feb477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ddf8677bb64a46" /><Relationship Type="http://schemas.openxmlformats.org/officeDocument/2006/relationships/notesSlide" Target="/ppt/notesSlides/notesSlide1.xml" Id="R1dcdc20b0feb44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ae750555714587" /><Relationship Type="http://schemas.openxmlformats.org/officeDocument/2006/relationships/notesSlide" Target="/ppt/notesSlides/notesSlide2.xml" Id="Re1152209f98743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41833fe3c24169" /><Relationship Type="http://schemas.openxmlformats.org/officeDocument/2006/relationships/notesSlide" Target="/ppt/notesSlides/notesSlide3.xml" Id="R67e1ad14e0d4460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c1b71de81d4a25" /><Relationship Type="http://schemas.openxmlformats.org/officeDocument/2006/relationships/notesSlide" Target="/ppt/notesSlides/notesSlide4.xml" Id="Ra0d402a2c9c149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15d5992ee4d1d" /><Relationship Type="http://schemas.openxmlformats.org/officeDocument/2006/relationships/notesSlide" Target="/ppt/notesSlides/notesSlide5.xml" Id="Rb2b19b2ab2d741d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403ce2c47f463e" /><Relationship Type="http://schemas.openxmlformats.org/officeDocument/2006/relationships/notesSlide" Target="/ppt/notesSlides/notesSlide6.xml" Id="R2d4692e5a0da4c1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355992be94797" /><Relationship Type="http://schemas.openxmlformats.org/officeDocument/2006/relationships/notesSlide" Target="/ppt/notesSlides/notesSlide7.xml" Id="R621a9b96878947f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7b91c58ae84f71" /><Relationship Type="http://schemas.openxmlformats.org/officeDocument/2006/relationships/notesSlide" Target="/ppt/notesSlides/notesSlide8.xml" Id="R729ca470cfb44d8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69ea650a33466c" /><Relationship Type="http://schemas.openxmlformats.org/officeDocument/2006/relationships/notesSlide" Target="/ppt/notesSlides/notesSlide9.xml" Id="R118c509f1be2428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c1488a073e4ba0" /><Relationship Type="http://schemas.openxmlformats.org/officeDocument/2006/relationships/notesSlide" Target="/ppt/notesSlides/notesSlide10.xml" Id="R95cd9cfd71e7498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e0a95014e74a39" /><Relationship Type="http://schemas.openxmlformats.org/officeDocument/2006/relationships/notesSlide" Target="/ppt/notesSlides/notesSlide11.xml" Id="R33bd4fbb4db34a2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8d9f79a404266" /><Relationship Type="http://schemas.openxmlformats.org/officeDocument/2006/relationships/notesSlide" Target="/ppt/notesSlides/notesSlide12.xml" Id="R3f03bb7cc30c4be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5e0f2172be4e12" /><Relationship Type="http://schemas.openxmlformats.org/officeDocument/2006/relationships/notesSlide" Target="/ppt/notesSlides/notesSlide13.xml" Id="Rbffa9da2768b4ac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755092838740e0" /><Relationship Type="http://schemas.openxmlformats.org/officeDocument/2006/relationships/notesSlide" Target="/ppt/notesSlides/notesSlide14.xml" Id="R50f6040dfaa14ec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957c0bb0dc430d" /><Relationship Type="http://schemas.openxmlformats.org/officeDocument/2006/relationships/notesSlide" Target="/ppt/notesSlides/notesSlide15.xml" Id="Rcc25c8dc1675441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b24fd5de72457f" /><Relationship Type="http://schemas.openxmlformats.org/officeDocument/2006/relationships/notesSlide" Target="/ppt/notesSlides/notesSlide16.xml" Id="R563fe012b82b408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eb9a0bd22b4a3b" /><Relationship Type="http://schemas.openxmlformats.org/officeDocument/2006/relationships/notesSlide" Target="/ppt/notesSlides/notesSlide17.xml" Id="R4b7bd6e168ff447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b5e18847234503" /><Relationship Type="http://schemas.openxmlformats.org/officeDocument/2006/relationships/notesSlide" Target="/ppt/notesSlides/notesSlide18.xml" Id="Rcc77b7ff72cd47d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e3aec34d9e43f9" /><Relationship Type="http://schemas.openxmlformats.org/officeDocument/2006/relationships/notesSlide" Target="/ppt/notesSlides/notesSlide19.xml" Id="R98855fd254984da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6b04d8e53c4bb1" /><Relationship Type="http://schemas.openxmlformats.org/officeDocument/2006/relationships/notesSlide" Target="/ppt/notesSlides/notesSlide20.xml" Id="R61a579f85a3b4c7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8ddbb998a44ef3" /><Relationship Type="http://schemas.openxmlformats.org/officeDocument/2006/relationships/notesSlide" Target="/ppt/notesSlides/notesSlide21.xml" Id="Rb552f4c04f124ad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9a5e0cb498422a" /><Relationship Type="http://schemas.openxmlformats.org/officeDocument/2006/relationships/notesSlide" Target="/ppt/notesSlides/notesSlide22.xml" Id="Rfa9a38c45cf841d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b422fc3071461d" /><Relationship Type="http://schemas.openxmlformats.org/officeDocument/2006/relationships/notesSlide" Target="/ppt/notesSlides/notesSlide23.xml" Id="R3b511ca41fb641a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44a35b8c3a4b73" /><Relationship Type="http://schemas.openxmlformats.org/officeDocument/2006/relationships/notesSlide" Target="/ppt/notesSlides/notesSlide24.xml" Id="Red86a4c7d9314cd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101DE03F-0162-4A9B-8E3D-9CF0162E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C8325A75-27EA-475B-BFE5-EE4CB1E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A6D87CB8-D7A6-4265-A333-1ED17B28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5C2F3EB5-467E-4277-B37F-B8DA058F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C60809E3-719B-4B4D-8EBA-9D0C3C12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EAF3FF"/>
                </a:solidFill>
              </a:defRPr>
            </a:pPr>
            <a:r>
              <a:rPr sz="3750" b="1">
                <a:solidFill>
                  <a:srgbClr val="EAF3FF"/>
                </a:solidFill>
              </a:rPr>
              <a:t>L3AI Public Business Plan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DFB3C80C-26E8-4C2F-92CC-B6A9B5D1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AI-native financial intelligence for Web3 education and risk-aware navigation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13FB73B0-86BB-46D1-9C2F-18F32566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3429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BB75BCA5-D554-4E73-85B0-B83BF750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3009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Public collateral v1.0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B1CAC005-2CF8-415A-B8B6-F78D05859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238500"/>
            <a:ext cx="3429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30131C79-6A2C-4846-B635-FDCED3665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38525"/>
            <a:ext cx="3009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Bilingual launch package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C583CCC3-ABDD-4730-8272-775ABED7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238500"/>
            <a:ext cx="3429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7D1A05C7-C474-4F68-B6AE-03733AA35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38525"/>
            <a:ext cx="3009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No investment advice</a:t>
            </a:r>
          </a:p>
        </p:txBody>
      </p:sp>
      <p:sp>
        <p:nvSpPr>
          <p:cNvPr id="13" name="l3-mark">
            <a:extLst xmlns:a="http://schemas.openxmlformats.org/drawingml/2006/main">
              <a:ext uri="{FF2B5EF4-FFF2-40B4-BE49-F238E27FC236}">
                <a16:creationId xmlns:a16="http://schemas.microsoft.com/office/drawing/2014/main" id="{6F546C96-4394-4831-9516-24DD2617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95C618D-57DC-4936-81D7-2785EEE8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286C0997-25A2-4CD3-9999-8DBAD36A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01 / 24</a:t>
            </a:r>
          </a:p>
        </p:txBody>
      </p:sp>
    </p:spTree>
    <p:extLst>
      <p:ext uri="{BB962C8B-B14F-4D97-AF65-F5344CB8AC3E}">
        <p14:creationId xmlns:p14="http://schemas.microsoft.com/office/powerpoint/2010/main" val="15842847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93B85C1F-AB90-4CE0-8347-AD3EEB498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25120C7C-1E9B-45D3-B582-626CE22FB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F1217CF6-978D-4209-8CE5-31738FCB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561B0B05-D10C-44F4-83FD-E67BDDB6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02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6D355046-08AA-4628-B670-E839E3BC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Executive Thesis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30717D9E-6965-4464-8FC0-FD99C35C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A clearer context layer for complex Web3 products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198B503C-ABF5-4CC1-AB14-9A9A45CC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3429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09112838-F5B5-401F-9026-8284C0A3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3009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Users need explanation before action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2A3E3A33-E845-4ECB-894C-BD5FEE94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238500"/>
            <a:ext cx="3429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84FA61CF-D882-4462-82BB-9459D8F8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38525"/>
            <a:ext cx="3009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Public trust depends on source-backed materials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6704844C-9C6E-43F7-927B-C0258B88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238500"/>
            <a:ext cx="3429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78092B0C-9F69-4B34-BF74-54E1ADF6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38525"/>
            <a:ext cx="3009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L3AI connects education, wallet-aware journeys, and community learning</a:t>
            </a:r>
          </a:p>
        </p:txBody>
      </p:sp>
      <p:sp>
        <p:nvSpPr>
          <p:cNvPr id="13" name="l3-mark">
            <a:extLst xmlns:a="http://schemas.openxmlformats.org/drawingml/2006/main">
              <a:ext uri="{FF2B5EF4-FFF2-40B4-BE49-F238E27FC236}">
                <a16:creationId xmlns:a16="http://schemas.microsoft.com/office/drawing/2014/main" id="{2C74D2BF-C1BB-4766-9AAF-886127186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CE953840-6236-4EB8-9660-C9656D537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881AE5CD-7331-4CCC-B0BC-D7AC970A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02 / 24</a:t>
            </a:r>
          </a:p>
        </p:txBody>
      </p:sp>
    </p:spTree>
    <p:extLst>
      <p:ext uri="{BB962C8B-B14F-4D97-AF65-F5344CB8AC3E}">
        <p14:creationId xmlns:p14="http://schemas.microsoft.com/office/powerpoint/2010/main" val="5929172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74932192-84C9-40EA-B872-93AE015A9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AD2017DC-FB51-46F5-A6AA-0EC010FB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7CEF4BD9-A988-4D3B-BCEC-FAAA029CF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E47E9540-B2B3-46F3-82CE-3C7F8F0BB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03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00976475-98D9-4349-8CEB-8B2E24DB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Market Problem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FDC5FB13-D502-4571-9277-19A238D2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Fragmented signals create avoidable risk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6039ADB4-3788-4B20-852B-219C27D5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3429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A310116E-7429-4F66-A3C5-9FB74B3F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3009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Market content, wallet states, product modules, and community posts are split across channels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CD347A97-7F7F-4E9A-B432-8B21D10A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238500"/>
            <a:ext cx="3429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2B961F27-54EF-4CF9-8665-2CE7982D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38525"/>
            <a:ext cx="3009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Users face cognitive overload and inconsistent interpretation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9DFD01C3-BBD6-43DE-8746-75B93C1A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238500"/>
            <a:ext cx="3429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88452A5C-7294-4CCB-BFE8-FA47DCF73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38525"/>
            <a:ext cx="3009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Operators need controlled public materials</a:t>
            </a:r>
          </a:p>
        </p:txBody>
      </p:sp>
      <p:sp>
        <p:nvSpPr>
          <p:cNvPr id="13" name="l3-mark">
            <a:extLst xmlns:a="http://schemas.openxmlformats.org/drawingml/2006/main">
              <a:ext uri="{FF2B5EF4-FFF2-40B4-BE49-F238E27FC236}">
                <a16:creationId xmlns:a16="http://schemas.microsoft.com/office/drawing/2014/main" id="{0F4CB2FA-B220-4608-899F-222D5B4B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C6127A9-1D70-4D1E-846E-BD6AAE2EA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71AAA01D-A696-4AA5-AF8B-10B3D57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03 / 24</a:t>
            </a:r>
          </a:p>
        </p:txBody>
      </p:sp>
    </p:spTree>
    <p:extLst>
      <p:ext uri="{BB962C8B-B14F-4D97-AF65-F5344CB8AC3E}">
        <p14:creationId xmlns:p14="http://schemas.microsoft.com/office/powerpoint/2010/main" val="19930150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496750F8-7C7C-4866-9603-288C43C3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9F414A3C-9093-4BFD-BB30-B7921E466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EDF70862-288A-4AE6-A297-FEBAF7E3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D4ADE992-584E-49C5-B50D-71692BFF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04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7CE4F44-2FDA-486C-8265-1ECEE6ED1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User Pain Points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F6CC79B3-BE72-4691-A5BD-21017DA8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The category needs better translation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CB68DA34-1F3E-4239-B943-E7601476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E0A8E783-B22C-4434-AA2E-718A13A3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Technical language is hard to parse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53577E2E-5B48-425B-A646-CC5A3EB4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8D0C72FE-CF77-4377-A381-12F4D820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Risk notes appear too late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7531944C-1B35-4C0E-B644-1ECB0F0D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B75F904E-36B6-428A-8A79-470F1C0D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Community hype can outrun product facts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FE581F86-D263-48B5-8644-A81A9DE7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6CD00BF5-47A9-4032-9A5A-9C0B10BD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Public resources often become stale</a:t>
            </a:r>
          </a:p>
        </p:txBody>
      </p:sp>
      <p:sp>
        <p:nvSpPr>
          <p:cNvPr id="15" name="l3-mark">
            <a:extLst xmlns:a="http://schemas.openxmlformats.org/drawingml/2006/main">
              <a:ext uri="{FF2B5EF4-FFF2-40B4-BE49-F238E27FC236}">
                <a16:creationId xmlns:a16="http://schemas.microsoft.com/office/drawing/2014/main" id="{3AF5EDB3-B748-4D88-B113-44F5AF71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FF332D4A-32D3-46D8-B707-25D2869D1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7C99F60C-36AE-4855-BBC9-0C19A505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04 / 24</a:t>
            </a:r>
          </a:p>
        </p:txBody>
      </p:sp>
    </p:spTree>
    <p:extLst>
      <p:ext uri="{BB962C8B-B14F-4D97-AF65-F5344CB8AC3E}">
        <p14:creationId xmlns:p14="http://schemas.microsoft.com/office/powerpoint/2010/main" val="6662264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8D0DF830-9AEB-4F1C-A34B-293B9546E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46F4952F-CBBD-427D-868C-B3E49B31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DEF36BBD-EF50-4BF1-8C06-3CD20D5B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A5277DDA-BD7E-4BAB-973A-2CD68BF0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05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1B845A5C-859C-47DB-A135-5C1AA4A4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L3AI Positioning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74C4A2E7-7B8F-4152-A927-282F21B2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AI-native context, not financial prediction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6FEAB99E-6293-43DE-BF7D-B4A3267E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1DA00CED-2280-40CA-83F9-2406705E5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Explain product and market context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8F89346F-E37C-4D5B-B161-8DFEAF22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9A607430-37D3-4D71-B7AC-68BB2E01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Organize public learning paths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71B63CE1-F082-4F67-9AB3-BE03C3F4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1B67D0C2-61D8-4412-9D12-82CB68549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Support risk-aware navigation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08A57010-E36C-4BEA-B601-C9DFF2A3E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4B0E8AF8-0AC9-4131-8456-2709F687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Avoid guaranteed outcomes</a:t>
            </a:r>
          </a:p>
        </p:txBody>
      </p:sp>
      <p:sp>
        <p:nvSpPr>
          <p:cNvPr id="15" name="l3-mark">
            <a:extLst xmlns:a="http://schemas.openxmlformats.org/drawingml/2006/main">
              <a:ext uri="{FF2B5EF4-FFF2-40B4-BE49-F238E27FC236}">
                <a16:creationId xmlns:a16="http://schemas.microsoft.com/office/drawing/2014/main" id="{1B3FBE9B-0A53-434B-A18E-E696E279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7D568B3-51EE-4A7F-BB78-7871FD41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63CB52C8-19F9-4800-B28A-95E200CE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05 / 24</a:t>
            </a:r>
          </a:p>
        </p:txBody>
      </p:sp>
    </p:spTree>
    <p:extLst>
      <p:ext uri="{BB962C8B-B14F-4D97-AF65-F5344CB8AC3E}">
        <p14:creationId xmlns:p14="http://schemas.microsoft.com/office/powerpoint/2010/main" val="17796422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DE5C4B4D-F480-44A0-9E4D-9C667B3B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0AE92FE9-8548-48E6-BBBE-05EFAAAA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06B592F8-D994-4B08-AF64-6D1EE9A0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CC07A8C6-9F8B-436B-9CFA-D14F13EE7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06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8E753EA5-8CC1-4231-A7A3-D10D91139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Product Modules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BA56907A-F179-4809-ABD7-D3F567F80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Four user-facing layers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78B64895-9E87-4F9E-AD42-2882F811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AF61DCFA-BB83-44BB-A7C9-4A3CBF4B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AI market context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E381A91B-5045-4D4D-8527-BC5D59A0F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75ACB395-7936-4CEE-8854-076B247F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Wallet-aware product education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51075CA6-A844-4FE7-A167-F37C3DEA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48A7AA2B-36D1-4A97-93F2-327BBBA8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Plain-language onboarding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CCCAE472-FA2D-4605-B4CF-45A0C756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C70710AF-BA7F-4BF3-A13B-F10C15FF4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Community and ecosystem learning</a:t>
            </a:r>
          </a:p>
        </p:txBody>
      </p:sp>
      <p:sp>
        <p:nvSpPr>
          <p:cNvPr id="15" name="l3-mark">
            <a:extLst xmlns:a="http://schemas.openxmlformats.org/drawingml/2006/main">
              <a:ext uri="{FF2B5EF4-FFF2-40B4-BE49-F238E27FC236}">
                <a16:creationId xmlns:a16="http://schemas.microsoft.com/office/drawing/2014/main" id="{33035EB5-27EC-4396-8E4D-7EA6B2CD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61580CA-464D-43E8-BD83-F4996B6B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DB8F62CB-A2B3-4176-80D1-6D0122896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06 / 24</a:t>
            </a:r>
          </a:p>
        </p:txBody>
      </p:sp>
    </p:spTree>
    <p:extLst>
      <p:ext uri="{BB962C8B-B14F-4D97-AF65-F5344CB8AC3E}">
        <p14:creationId xmlns:p14="http://schemas.microsoft.com/office/powerpoint/2010/main" val="17898071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94FE62F0-2CC6-4B75-BC01-9478B4AB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B705F195-838E-4F1A-AACE-D7CE5752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77559AAA-DEFD-4C29-A943-B8EE73D7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6DEAE532-F342-4D8A-95D2-3E5A18A2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07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DD91DFB6-6935-45B4-B0DD-05B399BD9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AI Capability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4BDB83A5-A2E5-4E13-859B-0DAD252D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Structured explanation engine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01E99F84-D982-42A9-A2E3-8BEC963E6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5278080F-FFCE-461D-87A5-48909C88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Summaries and FAQs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3D13A0FF-47E0-4171-AD74-3AC59E6E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35B2DF0A-C8A3-474E-AFDD-B30FC589A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Risk-aware prompts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D83643DD-60A3-45D6-85A8-45BCC59F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C25B4C4C-5D76-4DA4-A88E-2B92CB6F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Bilingual public copy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57153FBA-FFB3-4BFD-84FA-1C6FCA25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DC8AC56F-69E8-4012-8911-ED4CC3DA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Versioned resource manifests</a:t>
            </a:r>
          </a:p>
        </p:txBody>
      </p:sp>
      <p:sp>
        <p:nvSpPr>
          <p:cNvPr id="15" name="l3-mark">
            <a:extLst xmlns:a="http://schemas.openxmlformats.org/drawingml/2006/main">
              <a:ext uri="{FF2B5EF4-FFF2-40B4-BE49-F238E27FC236}">
                <a16:creationId xmlns:a16="http://schemas.microsoft.com/office/drawing/2014/main" id="{08C04DFD-DA35-4088-B14F-05E0A1C66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0747441-C92B-4817-9B4C-BEE91141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DC6D2E53-26A3-4CB1-BA0A-8680DB3B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07 / 24</a:t>
            </a:r>
          </a:p>
        </p:txBody>
      </p:sp>
    </p:spTree>
    <p:extLst>
      <p:ext uri="{BB962C8B-B14F-4D97-AF65-F5344CB8AC3E}">
        <p14:creationId xmlns:p14="http://schemas.microsoft.com/office/powerpoint/2010/main" val="3192525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E6F16690-B16A-4112-90C1-1F3D74EC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6B45D059-85D5-4151-80B9-1F2C8E75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197B8A58-45B7-4814-833E-BBF8DD8C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B5324925-F4FC-4382-9E1E-3686F71D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08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948C6BFE-DE1C-445C-B680-532AD66EA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Wallet-Aware Experience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C1EF6DFE-3AC6-4E2A-BA50-4F336596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Helpful context without private exposure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31E58F72-4301-47A8-A16A-1A35D96EF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3429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5FDDB5A5-0E0A-453E-B631-992BCB14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3009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Conceptual wallet journeys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EFDC1DAB-EEB1-4C2C-9D1A-E3BB29D0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238500"/>
            <a:ext cx="3429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768E997D-BD32-4E91-A259-A23EA7B6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38525"/>
            <a:ext cx="3009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No private wallet data in public assets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C0EDB102-B9C5-4D6B-A8CF-2E6EDCE3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238500"/>
            <a:ext cx="3429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D8CA95C8-4FF9-4645-A2C6-FCD9A616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38525"/>
            <a:ext cx="3009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No instant-withdrawal or performance claims</a:t>
            </a:r>
          </a:p>
        </p:txBody>
      </p:sp>
      <p:sp>
        <p:nvSpPr>
          <p:cNvPr id="13" name="l3-mark">
            <a:extLst xmlns:a="http://schemas.openxmlformats.org/drawingml/2006/main">
              <a:ext uri="{FF2B5EF4-FFF2-40B4-BE49-F238E27FC236}">
                <a16:creationId xmlns:a16="http://schemas.microsoft.com/office/drawing/2014/main" id="{19E3AC51-5C9E-41F6-9CB7-2C1F1AAC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ED27EF0-1139-4ABA-B76F-0ECAEA8A2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0ED58398-55C8-41B4-8603-32DF7B46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08 / 24</a:t>
            </a:r>
          </a:p>
        </p:txBody>
      </p:sp>
    </p:spTree>
    <p:extLst>
      <p:ext uri="{BB962C8B-B14F-4D97-AF65-F5344CB8AC3E}">
        <p14:creationId xmlns:p14="http://schemas.microsoft.com/office/powerpoint/2010/main" val="6264170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2CAB98E5-D240-47DA-B9FB-6A1437F2A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4AB271BE-9ACD-42A4-9A0B-59BDBD23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69A0514D-436A-4428-BC2F-A0DA9BD6F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8C1A045B-4EA4-4B46-BDE5-3564E76B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09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D7FA2AB7-00F5-4497-A5FD-7E06B26A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Trust And Safety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1BD58F6E-972A-4EE6-81BA-3FDBA2F1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Review-gated public communication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F3EFF9C6-CA46-4CE3-B4DF-F33EDACA2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32B2D353-B0AB-48AA-A4F2-C8805BBF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No secrets or local paths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76463764-7E97-4929-9F46-C44254CF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627F251A-845B-41F6-A20D-02CF8155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No invented partners or metrics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1914ECBB-E9DC-4463-8622-7F091E5C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9C7B8548-AA10-49EC-9B86-FC497526F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No fake balances or screenshots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C6FD99A7-9A22-4ECD-A247-ACE7CC2A8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7C2F1DB8-52E7-4C01-8FF6-2BBE208C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No guaranteed returns</a:t>
            </a:r>
          </a:p>
        </p:txBody>
      </p:sp>
      <p:sp>
        <p:nvSpPr>
          <p:cNvPr id="15" name="l3-mark">
            <a:extLst xmlns:a="http://schemas.openxmlformats.org/drawingml/2006/main">
              <a:ext uri="{FF2B5EF4-FFF2-40B4-BE49-F238E27FC236}">
                <a16:creationId xmlns:a16="http://schemas.microsoft.com/office/drawing/2014/main" id="{7ABB3C6C-A48F-44C3-856B-C7D0059E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FB04304-F9EC-4A8F-B82A-AF4B91938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B2ADEECD-42DD-4DA9-B494-85EFC9BA9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09 / 24</a:t>
            </a:r>
          </a:p>
        </p:txBody>
      </p:sp>
    </p:spTree>
    <p:extLst>
      <p:ext uri="{BB962C8B-B14F-4D97-AF65-F5344CB8AC3E}">
        <p14:creationId xmlns:p14="http://schemas.microsoft.com/office/powerpoint/2010/main" val="19939175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E1B1C840-C8D6-4CEF-B55D-FEFBE6F6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BABCB345-C68E-4393-91FF-D4A814BF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694F6654-9ED7-459F-BAE7-F54AF8C8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7215DF8A-D66C-4DD8-87B7-DE245A1C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10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946B1711-55BA-4B0C-9123-B02F38E8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Commercial Framework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677A8E5A-C7BD-4E1A-AAB4-56C977E1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Conservative monetization paths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DEF60704-6533-448C-8E35-9FBEE8A61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31F26A2B-9667-4DA3-885A-4C671F384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Education-led platform access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3A1072A4-BB70-4232-8460-E8E6E21D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4A9A082C-D603-4FFD-8740-A029DC45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Partner-safe content systems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EE33D773-BD49-434A-A009-D9F0FEF0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8F884983-B029-4519-9BDC-1EC002AA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Enterprise intelligence tooling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2FF157A0-9838-4DFB-928F-0FF7FC76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1382F502-1E56-43D0-BDC1-392A00A8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Any offer requires separate approval</a:t>
            </a:r>
          </a:p>
        </p:txBody>
      </p:sp>
      <p:sp>
        <p:nvSpPr>
          <p:cNvPr id="15" name="l3-mark">
            <a:extLst xmlns:a="http://schemas.openxmlformats.org/drawingml/2006/main">
              <a:ext uri="{FF2B5EF4-FFF2-40B4-BE49-F238E27FC236}">
                <a16:creationId xmlns:a16="http://schemas.microsoft.com/office/drawing/2014/main" id="{D5EEBDBE-1290-4911-B7AE-391938FE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66D6E91-BB84-4208-9F21-CD0E3BDB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E5258E30-BC30-47D3-A6C8-45D936D5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10 / 24</a:t>
            </a:r>
          </a:p>
        </p:txBody>
      </p:sp>
    </p:spTree>
    <p:extLst>
      <p:ext uri="{BB962C8B-B14F-4D97-AF65-F5344CB8AC3E}">
        <p14:creationId xmlns:p14="http://schemas.microsoft.com/office/powerpoint/2010/main" val="90145428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B4AB76E7-9C56-425D-B006-E535A208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A20C7DEA-D3A2-4455-AD77-ABB5EB10E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856851AA-8566-4141-8E86-002ACB98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ECFC13B3-DFD3-423D-AECA-7034CB50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11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FAAC4514-DBC5-4AF4-94CD-61F2B511E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Go-To-Market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A70CB105-AFDF-4971-B3F4-4F5DFEC76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Content-led launch motion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4DC9A5BB-B1A6-4EF6-BA6F-3D667F28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1C0AECAD-9B94-4083-8A98-96471440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Website resource center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5F5B98D9-4A8E-4BF7-B731-8A3D06884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DDF011AF-FE03-4F78-9F33-3A5C09737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Whitepaper and BP deck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0CF998A5-A16E-4E2F-8AE0-D41E4173B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A2B58968-57B2-4883-AB87-DED26D9F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Long-form promo video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2AE8CB40-06ED-4509-B656-FB4F7495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FB8DB280-900E-4B2C-ACBC-35E980A09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Social payloads and media kit</a:t>
            </a:r>
          </a:p>
        </p:txBody>
      </p:sp>
      <p:sp>
        <p:nvSpPr>
          <p:cNvPr id="15" name="l3-mark">
            <a:extLst xmlns:a="http://schemas.openxmlformats.org/drawingml/2006/main">
              <a:ext uri="{FF2B5EF4-FFF2-40B4-BE49-F238E27FC236}">
                <a16:creationId xmlns:a16="http://schemas.microsoft.com/office/drawing/2014/main" id="{2D8B5AD8-CA81-432F-BFED-C7B3768C5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C7B3331B-8961-44FC-ABBE-5EFCBC5FA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5CC11015-5629-45C8-86E1-40389F6B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11 / 24</a:t>
            </a:r>
          </a:p>
        </p:txBody>
      </p:sp>
    </p:spTree>
    <p:extLst>
      <p:ext uri="{BB962C8B-B14F-4D97-AF65-F5344CB8AC3E}">
        <p14:creationId xmlns:p14="http://schemas.microsoft.com/office/powerpoint/2010/main" val="3072083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2DE2B57F-5937-40F0-9BD7-7B1FC03E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DD4C4A7C-0233-4E19-AA65-74BBD116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1F94F487-3D84-43ED-B8F8-F9FAC3FB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DD211FCE-3994-4725-BC84-70A37685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12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03EC0EC7-8654-447E-A5C6-7D965E71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Community Strategy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6D71EA4E-E81F-473F-9D97-537FB2091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Learning before hype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BABFCE34-6E04-4E69-8933-62573BEB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9AD5B0E6-0511-451A-A316-36958335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Moderated information flows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7DD5E2C2-8255-4BCA-B2C8-9375A1CE2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7DEA9FBE-8129-4DB4-BD34-84E1F32E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FAQ routing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E3D1BD54-11B3-4EEF-BA7F-9D122DA96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FD935C8B-6E0F-49A5-8331-4A93EF71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Approved announcements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8318336B-06A0-45B0-8288-0931D491A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8917047B-13B0-484D-9065-80E45DF0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Channel-owner sign-off</a:t>
            </a:r>
          </a:p>
        </p:txBody>
      </p:sp>
      <p:sp>
        <p:nvSpPr>
          <p:cNvPr id="15" name="l3-mark">
            <a:extLst xmlns:a="http://schemas.openxmlformats.org/drawingml/2006/main">
              <a:ext uri="{FF2B5EF4-FFF2-40B4-BE49-F238E27FC236}">
                <a16:creationId xmlns:a16="http://schemas.microsoft.com/office/drawing/2014/main" id="{1DD122EF-83EC-4E5D-95AA-45D104FD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B175BD8-4FC6-4E4E-B93D-8443A733D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B6B21CDD-06CD-45BF-8400-20185EB6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12 / 24</a:t>
            </a:r>
          </a:p>
        </p:txBody>
      </p:sp>
    </p:spTree>
    <p:extLst>
      <p:ext uri="{BB962C8B-B14F-4D97-AF65-F5344CB8AC3E}">
        <p14:creationId xmlns:p14="http://schemas.microsoft.com/office/powerpoint/2010/main" val="11732704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E401531C-76B5-43C4-BE4D-EE933C03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E3E1C4C3-8E0D-41D9-86E1-D7EB9CFE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30BE6A17-E808-45CA-A696-FE0F9F148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3AECE75E-4BDA-494E-9878-26DE36276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13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4C44B29-F2EA-4811-8407-4A25815D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Operations Model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16FC40FD-F7DD-4843-BA65-E8928C0E6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Versioned public asset control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B5C5AF1C-BFD6-4644-906C-D631CEEE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509D763B-BEE4-4ED5-BA9B-54AAE650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Prepare assets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36A18B8C-710E-4058-9DBB-4CE6E4A2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B56C98BE-D28F-4E9E-B1FD-800E7A8F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Validate links and checksums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A3D98BE4-6CF1-430F-8EA1-87DE4889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14433495-0116-4B0D-8349-98514BD8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Publish through approved channels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313AFD92-0D8C-4264-A8AA-CC5BDC3B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F25B9F4D-EFB9-464C-A61E-B79FB7A3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Maintain rollback path</a:t>
            </a:r>
          </a:p>
        </p:txBody>
      </p:sp>
      <p:sp>
        <p:nvSpPr>
          <p:cNvPr id="15" name="l3-mark">
            <a:extLst xmlns:a="http://schemas.openxmlformats.org/drawingml/2006/main">
              <a:ext uri="{FF2B5EF4-FFF2-40B4-BE49-F238E27FC236}">
                <a16:creationId xmlns:a16="http://schemas.microsoft.com/office/drawing/2014/main" id="{F6DFE2D6-0CE8-4B45-B28F-409750FBA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7458A03-4D8F-4831-8D8F-BB8E8D45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8FA483C1-F8E4-4B0D-8403-147917249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13 / 24</a:t>
            </a:r>
          </a:p>
        </p:txBody>
      </p:sp>
    </p:spTree>
    <p:extLst>
      <p:ext uri="{BB962C8B-B14F-4D97-AF65-F5344CB8AC3E}">
        <p14:creationId xmlns:p14="http://schemas.microsoft.com/office/powerpoint/2010/main" val="18778565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0B4F811D-2610-48BC-AC01-4A4E0657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B4D00360-6F73-421A-94CC-3D6080BF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74000942-6447-471E-817A-2B0204348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C17F0CCB-BBDE-4040-A505-E082407A8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14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177CB8C6-CE96-419A-86BA-08CCE321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Launch Assets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3D03CCDE-C4D0-486A-82A4-A27A5A6A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The public package is now resource-ready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D3F28B42-71FA-481F-9E90-429B50FA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60C0DA5F-67C5-400A-986B-0A915217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Whitepaper HTML/PDF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3AAF45FF-7855-4579-AFD3-A41A4739D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95C4570E-3035-4330-9D39-D6A73494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Business plan PPTX/PDF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49D39D22-FAB6-4CDB-8051-FD00B05C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9218D985-004B-48FD-A0FE-E56AFC2D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3-minute promo video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8BAC0FEC-3D7D-4278-81F2-D4EE6F0B2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6FB973E0-D809-4088-A5E3-9C428B82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Script, subtitles, storyboard, manifest</a:t>
            </a:r>
          </a:p>
        </p:txBody>
      </p:sp>
      <p:sp>
        <p:nvSpPr>
          <p:cNvPr id="15" name="l3-mark">
            <a:extLst xmlns:a="http://schemas.openxmlformats.org/drawingml/2006/main">
              <a:ext uri="{FF2B5EF4-FFF2-40B4-BE49-F238E27FC236}">
                <a16:creationId xmlns:a16="http://schemas.microsoft.com/office/drawing/2014/main" id="{E8CAFCF2-2D3F-4B22-BA12-B131C7CC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0765C11-2497-4C0A-AECE-39FA55B1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F9DCA95A-EF74-427D-A2C4-93F02855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14 / 24</a:t>
            </a:r>
          </a:p>
        </p:txBody>
      </p:sp>
    </p:spTree>
    <p:extLst>
      <p:ext uri="{BB962C8B-B14F-4D97-AF65-F5344CB8AC3E}">
        <p14:creationId xmlns:p14="http://schemas.microsoft.com/office/powerpoint/2010/main" val="21120617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6F1CB089-375C-45FC-B5DF-C8393EAE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2368D911-9670-4070-80D3-2605B816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1441E572-4DDC-4122-A7F6-595EB75D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57DD5521-FDDC-4033-81AD-27B80F64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15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27523AA4-4FA8-413E-AF7D-3A18123B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Roadmap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8D31344C-E9C2-415A-9D09-6594D0DC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Phased public readiness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B2A5B367-BE33-46EA-A8E6-13C3DFFCE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7D6BFE51-3E4C-46AC-BBB4-1AD56589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Foundation materials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3D81F188-81D1-4A6E-A4D1-B22C1DCE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3C0B7A3E-9D72-4DCD-BA9C-C754C5E0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Website and FAQ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96540D4F-46B5-4943-8A38-2C16C3DB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800A9B5C-10D4-44F9-AABF-C84B89C7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Community learning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7C610EAB-32E2-4C16-AF37-1C635CB6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09742B54-4E3E-4E6D-93E7-A02D6EFE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Product education depth</a:t>
            </a:r>
          </a:p>
        </p:txBody>
      </p:sp>
      <p:sp>
        <p:nvSpPr>
          <p:cNvPr id="15" name="bullet-panel-5">
            <a:extLst xmlns:a="http://schemas.openxmlformats.org/drawingml/2006/main">
              <a:ext uri="{FF2B5EF4-FFF2-40B4-BE49-F238E27FC236}">
                <a16:creationId xmlns:a16="http://schemas.microsoft.com/office/drawing/2014/main" id="{CD4746DB-0275-41B6-8618-E9E20A755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102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bullet-text-5">
            <a:extLst xmlns:a="http://schemas.openxmlformats.org/drawingml/2006/main">
              <a:ext uri="{FF2B5EF4-FFF2-40B4-BE49-F238E27FC236}">
                <a16:creationId xmlns:a16="http://schemas.microsoft.com/office/drawing/2014/main" id="{74E35A99-43EC-4759-9895-4B0488A4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02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Partner-safe media</a:t>
            </a:r>
          </a:p>
        </p:txBody>
      </p:sp>
      <p:sp>
        <p:nvSpPr>
          <p:cNvPr id="17" name="l3-mark">
            <a:extLst xmlns:a="http://schemas.openxmlformats.org/drawingml/2006/main">
              <a:ext uri="{FF2B5EF4-FFF2-40B4-BE49-F238E27FC236}">
                <a16:creationId xmlns:a16="http://schemas.microsoft.com/office/drawing/2014/main" id="{4FC15ABB-FFDC-442C-B4D7-EE964638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8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FB9FB95-E434-421E-BCE5-7F8E5CC5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9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53C2085D-B894-4266-96DC-B5C5C1A9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15 / 24</a:t>
            </a:r>
          </a:p>
        </p:txBody>
      </p:sp>
    </p:spTree>
    <p:extLst>
      <p:ext uri="{BB962C8B-B14F-4D97-AF65-F5344CB8AC3E}">
        <p14:creationId xmlns:p14="http://schemas.microsoft.com/office/powerpoint/2010/main" val="7008780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F0DA3B82-A1B6-40A4-8490-D2C0175F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87B860DC-EA0F-43BF-B8A7-5E22CE29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34A2EEB8-C21A-4ACC-B468-3D055A46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098C1C36-595B-4E60-8DEF-9FA2DC14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16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F8D5295A-FB84-4017-8ECF-4CA08C56A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Risk Register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CFE4F0DC-5D28-48C2-9107-32A997AA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Known public risks and mitigations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724072BC-C4F4-4719-B1C2-D8C202D8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BAE20C27-87DD-4343-81D9-7BE9DE87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Misunderstood AI scope -&gt; disclaimers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9991BA01-22BA-47DC-BDBA-456D362B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22A80DFC-D285-4FC0-B811-EDC04BE5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Unsupported claims -&gt; review gate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EAE41EDB-07C6-468A-ABB0-DE1E40FA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909B7FE3-BE6F-4A04-8521-ED5FBB04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Localization drift -&gt; bilingual QA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FDEC7ED5-01FF-4294-936D-E9468DB4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FF15A2B0-3BD8-4359-B64B-79653514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Stale links -&gt; manifest validation</a:t>
            </a:r>
          </a:p>
        </p:txBody>
      </p:sp>
      <p:sp>
        <p:nvSpPr>
          <p:cNvPr id="15" name="l3-mark">
            <a:extLst xmlns:a="http://schemas.openxmlformats.org/drawingml/2006/main">
              <a:ext uri="{FF2B5EF4-FFF2-40B4-BE49-F238E27FC236}">
                <a16:creationId xmlns:a16="http://schemas.microsoft.com/office/drawing/2014/main" id="{ED8BFC59-11B2-4FF1-9E28-6E256444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DA07716-E95B-418B-8BD1-1FF14921E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6744B4B6-A7A6-4085-AC4F-84DE18F8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16 / 24</a:t>
            </a:r>
          </a:p>
        </p:txBody>
      </p:sp>
    </p:spTree>
    <p:extLst>
      <p:ext uri="{BB962C8B-B14F-4D97-AF65-F5344CB8AC3E}">
        <p14:creationId xmlns:p14="http://schemas.microsoft.com/office/powerpoint/2010/main" val="138862096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2B125F09-D6A2-4DCC-85FB-823D8A045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134899A0-4E97-42BC-8FD1-1E842633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CD49B03C-1337-4B02-90C9-291CE1E19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09851664-BFCA-4C7B-8686-E3D294644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17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D5386959-32A4-4981-A428-8471E495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Compliance Position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B4FE6363-86EC-4B1A-B985-CC74C5AC9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Information and education only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83CF2668-F5AD-42DB-A944-E681E6984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55FD0B53-16A2-4A3E-A11F-6A9EEDF7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Not financial advice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108BA8FF-5317-4BAF-9E0E-9DC29E604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13FD6DC6-A593-48FD-B478-904C20E8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No deposit instruction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B57B2B0E-6B2C-4DF6-9D8A-DCD587B5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8B6FC0B2-EE8B-45C1-9D05-3AA0E3D2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No investment promise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8EA1A3A9-CE88-4121-8E8F-2F6E67A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150A43DF-2743-49A1-BE6F-F1950E8E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Users verify independently</a:t>
            </a:r>
          </a:p>
        </p:txBody>
      </p:sp>
      <p:sp>
        <p:nvSpPr>
          <p:cNvPr id="15" name="l3-mark">
            <a:extLst xmlns:a="http://schemas.openxmlformats.org/drawingml/2006/main">
              <a:ext uri="{FF2B5EF4-FFF2-40B4-BE49-F238E27FC236}">
                <a16:creationId xmlns:a16="http://schemas.microsoft.com/office/drawing/2014/main" id="{7D1FB082-02A0-40BB-926B-FED19A670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BBD819A-0D4A-401E-A95D-DDC39C34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A96E8CAC-A5CF-46F0-8CE1-86126B86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17 / 24</a:t>
            </a:r>
          </a:p>
        </p:txBody>
      </p:sp>
    </p:spTree>
    <p:extLst>
      <p:ext uri="{BB962C8B-B14F-4D97-AF65-F5344CB8AC3E}">
        <p14:creationId xmlns:p14="http://schemas.microsoft.com/office/powerpoint/2010/main" val="181188532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B70F3AF7-3465-4095-BB5E-8CE9AABF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17F0E0F0-A2A0-4A39-9179-E55155FF3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572F5E81-3724-40F0-A0F4-D3B80F5BD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2C4EDA71-DE34-4B25-B3D3-A02A4AA6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18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6F97E310-5943-417F-ABA0-97F2EC28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Data And Privacy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BC08EF42-9080-4FC4-8321-1A078EC0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Public hygiene as a launch requirement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B65196B6-2FBD-420B-AF1B-5AA79BB2C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73A559C2-E45A-41E1-90EE-E5E12E4F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No production data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0DE944F7-1B85-4A0E-A4A2-4813A938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BFE2B09B-660D-41AD-ACB6-06DF8C4E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No admin screenshots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A2796AEC-C5F2-498A-87AB-4660D8C6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FD954BAF-A34C-41BB-BA8C-316ED7D4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No tokens or local paths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A8032FE1-4F08-4770-AFB8-C6C2C806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D29BED44-D8DA-4489-8ED4-099FA787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No private repository exposure</a:t>
            </a:r>
          </a:p>
        </p:txBody>
      </p:sp>
      <p:sp>
        <p:nvSpPr>
          <p:cNvPr id="15" name="l3-mark">
            <a:extLst xmlns:a="http://schemas.openxmlformats.org/drawingml/2006/main">
              <a:ext uri="{FF2B5EF4-FFF2-40B4-BE49-F238E27FC236}">
                <a16:creationId xmlns:a16="http://schemas.microsoft.com/office/drawing/2014/main" id="{162C2FDF-9325-4BFF-8178-19054A232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FBEA1E6A-55F0-4128-9120-D5ADB4D1E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A7F38C30-82E0-4336-9422-EC486153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18 / 24</a:t>
            </a:r>
          </a:p>
        </p:txBody>
      </p:sp>
    </p:spTree>
    <p:extLst>
      <p:ext uri="{BB962C8B-B14F-4D97-AF65-F5344CB8AC3E}">
        <p14:creationId xmlns:p14="http://schemas.microsoft.com/office/powerpoint/2010/main" val="22396605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A1C65A85-D11C-4912-8B91-21AE05AC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CFC595CD-A73D-4DA6-9C95-66D5C4FEE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FCDF80C7-2955-4050-AC98-581DD549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75372E28-DBB9-44EB-A88C-4B3D7BB5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19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A99352F-A7B0-4F56-AC29-863C8995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Competitive Edge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3D82EE31-334B-4783-B9C7-B61ACC83F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Operational discipline as brand trust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13CEE735-9CD3-4FDB-B5C5-3823D89B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8E581EF5-A219-4E78-A867-84E7B74C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Source-backed content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D254F07C-7407-4D53-A5A8-7FF68EE5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EB85805E-9547-4E25-88A1-E86C31945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Bilingual parity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00C8CDC7-59CF-49CF-9C7E-D3035E7F1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01209065-9C48-4804-9CEF-15D432BC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Public manifest discipline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F4DA5753-1434-4DAA-8685-FADDA5E9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D05EFF93-1369-4C09-9657-9A470416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Bridge-to-release workflow</a:t>
            </a:r>
          </a:p>
        </p:txBody>
      </p:sp>
      <p:sp>
        <p:nvSpPr>
          <p:cNvPr id="15" name="l3-mark">
            <a:extLst xmlns:a="http://schemas.openxmlformats.org/drawingml/2006/main">
              <a:ext uri="{FF2B5EF4-FFF2-40B4-BE49-F238E27FC236}">
                <a16:creationId xmlns:a16="http://schemas.microsoft.com/office/drawing/2014/main" id="{4E1F01FD-27CB-4151-BF4C-201E78726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0E3F4CE-AAD5-4A4F-9129-9CFA078B5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928ECD7F-F83E-4C00-A8F7-99B738A9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19 / 24</a:t>
            </a:r>
          </a:p>
        </p:txBody>
      </p:sp>
    </p:spTree>
    <p:extLst>
      <p:ext uri="{BB962C8B-B14F-4D97-AF65-F5344CB8AC3E}">
        <p14:creationId xmlns:p14="http://schemas.microsoft.com/office/powerpoint/2010/main" val="212210180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F885D156-FD3D-45CF-86D2-36BF14CE9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76B757EA-B0F8-49F3-8E82-9AFE56D0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5906D09A-CBCB-45B6-8C8C-1F4959EF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9C2562AA-A485-45B3-B9AC-810B085D1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20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25DB4AD0-00E6-40FE-87D7-01988FD2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Stakeholder Value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A61DA53A-72EB-42C2-A45E-B6FD874E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Why each audience cares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7643FA39-BE7F-4723-9C0F-BE828EC7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6CB2059D-DC0A-44BD-B9ED-557FF288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Users get clearer learning paths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BBA8C6E5-7665-4083-AB03-BAC528838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11A38AFB-AAB4-42F4-9F06-9D642122C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Communities get safer discussion materials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73BE0CB9-F891-4801-9B69-32F7C71C1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9101534A-46AA-490B-821B-7B5D1AAE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Operators get controlled assets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23E74729-ED08-4D54-A346-BDFDC4DE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F5B39FA1-6B41-40E4-BCEF-FAA7D239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Partners get reviewable context</a:t>
            </a:r>
          </a:p>
        </p:txBody>
      </p:sp>
      <p:sp>
        <p:nvSpPr>
          <p:cNvPr id="15" name="l3-mark">
            <a:extLst xmlns:a="http://schemas.openxmlformats.org/drawingml/2006/main">
              <a:ext uri="{FF2B5EF4-FFF2-40B4-BE49-F238E27FC236}">
                <a16:creationId xmlns:a16="http://schemas.microsoft.com/office/drawing/2014/main" id="{A87DBE9D-C6AF-4A32-988C-2555BB3B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F943F0D-66DC-49A3-BC11-36DA88FC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6A240D3B-7C2A-42E4-9A6B-8E5DC877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20 / 24</a:t>
            </a:r>
          </a:p>
        </p:txBody>
      </p:sp>
    </p:spTree>
    <p:extLst>
      <p:ext uri="{BB962C8B-B14F-4D97-AF65-F5344CB8AC3E}">
        <p14:creationId xmlns:p14="http://schemas.microsoft.com/office/powerpoint/2010/main" val="214045749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94258183-00EE-4DCE-BDC0-B165FA397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94CE7A8D-9661-47CB-B4A9-7E7D73D6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1493C9BF-CB2D-4B85-AA42-F513E6A48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7F5694B6-15AE-4AF4-A77D-4AEE454C9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21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9791AD4B-3AAE-4E7E-A968-C5EE66C4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KPIs To Approve Later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C0952301-1961-4F66-B1FF-01E43C881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Measure clarity before conversion pressure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614D855A-F3D8-4B82-BB8C-60A1165D2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D540BC1B-817F-4A48-B8F7-D598B007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Resource-page engagement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CA16C802-CCEB-4EA8-A21E-7D15F7F5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C2679DD0-60BD-404B-B165-16629C22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FAQ completion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4A6736A7-3893-4910-8BEF-F898D0DB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B0D6B395-EECB-4DDF-9641-EEC963E9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Video watch depth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5022454A-1C76-40D2-9A24-FDF5E56D2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07AE15DB-F953-42AA-90C3-A495BABB5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Community question quality</a:t>
            </a:r>
          </a:p>
        </p:txBody>
      </p:sp>
      <p:sp>
        <p:nvSpPr>
          <p:cNvPr id="15" name="l3-mark">
            <a:extLst xmlns:a="http://schemas.openxmlformats.org/drawingml/2006/main">
              <a:ext uri="{FF2B5EF4-FFF2-40B4-BE49-F238E27FC236}">
                <a16:creationId xmlns:a16="http://schemas.microsoft.com/office/drawing/2014/main" id="{7460EF5F-E2B3-4BC6-8136-3B92D4F6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E5CE8BB3-2569-4A03-8C63-D8772DE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283C53AA-12E9-43B0-B001-9EDBA17D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21 / 24</a:t>
            </a:r>
          </a:p>
        </p:txBody>
      </p:sp>
    </p:spTree>
    <p:extLst>
      <p:ext uri="{BB962C8B-B14F-4D97-AF65-F5344CB8AC3E}">
        <p14:creationId xmlns:p14="http://schemas.microsoft.com/office/powerpoint/2010/main" val="119917633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E6C8F0CC-FD86-4994-AD76-9438D0A2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031B083B-4973-460A-A790-BFDAC173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BFC098D3-8ED5-4E4E-B552-93F06225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7787FC86-BE3E-428C-87BA-B565A4AE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22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F6CBF0C4-B08D-448F-8A47-ECE25634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Investor Conversation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3F08C0F2-39AC-45F4-B727-C6557A6F5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What can be discussed safely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D0EBA76C-4FBC-4FDC-B3D9-F02C57ADC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1EF97652-F42C-4733-8D5E-64D51E4D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Category and positioning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55EBA92D-4069-4EE5-9297-B14042DB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D6180DD3-43D7-4DAB-82BC-2B96A164B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Operating model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FED936E4-A400-4296-AAF2-7591B5E8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86D42BB4-A23F-47E6-A45A-C1A69E65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Risk controls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3A82C90F-C8BC-41EB-9190-5367893F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BAD5A744-68D1-4A90-9EAA-05256CED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Roadmap and readiness, without invented financials</a:t>
            </a:r>
          </a:p>
        </p:txBody>
      </p:sp>
      <p:sp>
        <p:nvSpPr>
          <p:cNvPr id="15" name="l3-mark">
            <a:extLst xmlns:a="http://schemas.openxmlformats.org/drawingml/2006/main">
              <a:ext uri="{FF2B5EF4-FFF2-40B4-BE49-F238E27FC236}">
                <a16:creationId xmlns:a16="http://schemas.microsoft.com/office/drawing/2014/main" id="{F57FAA7F-2E01-41EC-B09A-79614AB51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536D1D37-D4F7-4EB3-89F5-7E26E37C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01FD145A-2F34-4F96-9256-BE58A910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22 / 24</a:t>
            </a:r>
          </a:p>
        </p:txBody>
      </p:sp>
    </p:spTree>
    <p:extLst>
      <p:ext uri="{BB962C8B-B14F-4D97-AF65-F5344CB8AC3E}">
        <p14:creationId xmlns:p14="http://schemas.microsoft.com/office/powerpoint/2010/main" val="122848048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27060C71-ABFC-43D3-85E8-772ADEB33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1E4B366E-9343-4872-AB7E-7AE1F526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DAC567C2-6C1C-4D79-B50F-3B425BD4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A69FD979-44D2-4C75-9927-528187D2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23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5B51AD7A-0A29-464F-9CCB-6255BC1D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Next Actions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E2B2A6F0-A1EE-48B8-90D4-2E8EBC5DE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Move from assets to approved channel operation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B0AAB5F3-4497-4A56-9B3C-20A285D0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7BE2EC67-2D93-4F10-AE09-6D4839587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Use official public URLs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9F0B6FEB-519B-4DC7-9ED0-25F2B4D8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21EFA670-8B52-4B32-841E-0F04E116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Keep owner approvals attached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41FBACF3-239A-4156-B088-8536C17E5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0C212B01-19B3-460D-8D4D-81DE3D949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Refresh manifest after every change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83AB60BB-FD17-4DF2-B163-59F057FC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695B59D3-F77D-4102-9CF4-47EF6544F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Run link and file validation</a:t>
            </a:r>
          </a:p>
        </p:txBody>
      </p:sp>
      <p:sp>
        <p:nvSpPr>
          <p:cNvPr id="15" name="l3-mark">
            <a:extLst xmlns:a="http://schemas.openxmlformats.org/drawingml/2006/main">
              <a:ext uri="{FF2B5EF4-FFF2-40B4-BE49-F238E27FC236}">
                <a16:creationId xmlns:a16="http://schemas.microsoft.com/office/drawing/2014/main" id="{17C2ABEA-C422-4404-B119-1D4A9175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6CC43348-D69C-4928-9691-2398E9E8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164D394C-6FF1-40BC-93D9-C9A6B4AC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23 / 24</a:t>
            </a:r>
          </a:p>
        </p:txBody>
      </p:sp>
    </p:spTree>
    <p:extLst>
      <p:ext uri="{BB962C8B-B14F-4D97-AF65-F5344CB8AC3E}">
        <p14:creationId xmlns:p14="http://schemas.microsoft.com/office/powerpoint/2010/main" val="174320891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band">
            <a:extLst xmlns:a="http://schemas.openxmlformats.org/drawingml/2006/main">
              <a:ext uri="{FF2B5EF4-FFF2-40B4-BE49-F238E27FC236}">
                <a16:creationId xmlns:a16="http://schemas.microsoft.com/office/drawing/2014/main" id="{5F3E7568-1D48-44CF-80C0-A42ECA92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an-glow">
            <a:extLst xmlns:a="http://schemas.openxmlformats.org/drawingml/2006/main">
              <a:ext uri="{FF2B5EF4-FFF2-40B4-BE49-F238E27FC236}">
                <a16:creationId xmlns:a16="http://schemas.microsoft.com/office/drawing/2014/main" id="{15EED38E-E1BB-420B-A0E6-DF641A1A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-1809750"/>
            <a:ext cx="5143500" cy="514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58"/>
          </a:solidFill>
          <a:ln xmlns:a="http://schemas.openxmlformats.org/drawingml/2006/main" w="9525">
            <a:solidFill>
              <a:srgbClr val="186A73"/>
            </a:solidFill>
            <a:prstDash val="solid"/>
          </a:ln>
        </p:spPr>
      </p:sp>
      <p:sp>
        <p:nvSpPr>
          <p:cNvPr id="3" name="gold-ring">
            <a:extLst xmlns:a="http://schemas.openxmlformats.org/drawingml/2006/main">
              <a:ext uri="{FF2B5EF4-FFF2-40B4-BE49-F238E27FC236}">
                <a16:creationId xmlns:a16="http://schemas.microsoft.com/office/drawing/2014/main" id="{0AADBE75-645C-4BF1-89ED-3F1F013A5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91050"/>
            <a:ext cx="16764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A84A"/>
            </a:solidFill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ED288EA2-967F-4C1A-B19A-0C92E7C2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6A84A"/>
                </a:solidFill>
              </a:defRPr>
            </a:pPr>
            <a:r>
              <a:rPr sz="1050" b="1">
                <a:solidFill>
                  <a:srgbClr val="D6A84A"/>
                </a:solidFill>
              </a:rPr>
              <a:t>L3AI PUBLIC BUSINESS PLAN · 24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0648A34B-9B2C-4621-9B5F-7CF71093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AF3FF"/>
                </a:solidFill>
              </a:defRPr>
            </a:pPr>
            <a:r>
              <a:rPr sz="3150" b="1">
                <a:solidFill>
                  <a:srgbClr val="EAF3FF"/>
                </a:solidFill>
              </a:rPr>
              <a:t>Closing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595E698F-1B53-488D-AA3E-9A0AFF56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3837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FB2C7"/>
                </a:solidFill>
              </a:defRPr>
            </a:pPr>
            <a:r>
              <a:rPr sz="1650">
                <a:solidFill>
                  <a:srgbClr val="9FB2C7"/>
                </a:solidFill>
              </a:rPr>
              <a:t>L3AI is ready for a controlled public story</a:t>
            </a:r>
          </a:p>
        </p:txBody>
      </p:sp>
      <p:sp>
        <p:nvSpPr>
          <p:cNvPr id="7" name="bullet-panel-1">
            <a:extLst xmlns:a="http://schemas.openxmlformats.org/drawingml/2006/main">
              <a:ext uri="{FF2B5EF4-FFF2-40B4-BE49-F238E27FC236}">
                <a16:creationId xmlns:a16="http://schemas.microsoft.com/office/drawing/2014/main" id="{1F0BE927-3A2B-427D-945E-93DD9C7A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61264C50-E55B-46A0-89E4-A6869D750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AI-native</a:t>
            </a:r>
          </a:p>
        </p:txBody>
      </p:sp>
      <p:sp>
        <p:nvSpPr>
          <p:cNvPr id="9" name="bullet-panel-2">
            <a:extLst xmlns:a="http://schemas.openxmlformats.org/drawingml/2006/main">
              <a:ext uri="{FF2B5EF4-FFF2-40B4-BE49-F238E27FC236}">
                <a16:creationId xmlns:a16="http://schemas.microsoft.com/office/drawing/2014/main" id="{D17D808E-1A64-4B83-86B0-CA22A39F5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3850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1635B682-7E92-469C-BFF6-158DA4E3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Source-backed</a:t>
            </a:r>
          </a:p>
        </p:txBody>
      </p:sp>
      <p:sp>
        <p:nvSpPr>
          <p:cNvPr id="11" name="bullet-panel-3">
            <a:extLst xmlns:a="http://schemas.openxmlformats.org/drawingml/2006/main">
              <a:ext uri="{FF2B5EF4-FFF2-40B4-BE49-F238E27FC236}">
                <a16:creationId xmlns:a16="http://schemas.microsoft.com/office/drawing/2014/main" id="{DD8462E8-AF66-4E93-954F-919E1865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20D6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37E31E5A-C519-415F-9C00-7BD22D28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Bilingual</a:t>
            </a:r>
          </a:p>
        </p:txBody>
      </p:sp>
      <p:sp>
        <p:nvSpPr>
          <p:cNvPr id="13" name="bullet-panel-4">
            <a:extLst xmlns:a="http://schemas.openxmlformats.org/drawingml/2006/main">
              <a:ext uri="{FF2B5EF4-FFF2-40B4-BE49-F238E27FC236}">
                <a16:creationId xmlns:a16="http://schemas.microsoft.com/office/drawing/2014/main" id="{FC6C9BA0-E94F-46EF-93CE-2FC9AE7E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24350"/>
            <a:ext cx="5143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B2D"/>
          </a:solidFill>
          <a:ln xmlns:a="http://schemas.openxmlformats.org/drawingml/2006/main" w="9525">
            <a:solidFill>
              <a:srgbClr val="D6A8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08A98A3C-C78D-4BF4-85C8-DF461D67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24375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DEBFA"/>
                </a:solidFill>
              </a:defRPr>
            </a:pPr>
            <a:r>
              <a:rPr sz="1350">
                <a:solidFill>
                  <a:srgbClr val="DDEBFA"/>
                </a:solidFill>
              </a:rPr>
              <a:t>Risk-aware</a:t>
            </a:r>
          </a:p>
        </p:txBody>
      </p:sp>
      <p:sp>
        <p:nvSpPr>
          <p:cNvPr id="15" name="l3-mark">
            <a:extLst xmlns:a="http://schemas.openxmlformats.org/drawingml/2006/main">
              <a:ext uri="{FF2B5EF4-FFF2-40B4-BE49-F238E27FC236}">
                <a16:creationId xmlns:a16="http://schemas.microsoft.com/office/drawing/2014/main" id="{7B0FC187-B584-444B-AA6F-A0BA6EABD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0673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6A84A"/>
                </a:solidFill>
              </a:defRPr>
            </a:pPr>
            <a:r>
              <a:rPr sz="2850" b="1">
                <a:solidFill>
                  <a:srgbClr val="D6A84A"/>
                </a:solidFill>
              </a:rPr>
              <a:t>L3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38E9CB8-812C-4EA2-8C04-D2CB96B6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Source-backed · Review-gated · Public-safe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33CB5658-F089-4BD4-8DA0-1DDCABF7B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29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1859C"/>
                </a:solidFill>
              </a:defRPr>
            </a:pPr>
            <a:r>
              <a:rPr sz="900">
                <a:solidFill>
                  <a:srgbClr val="71859C"/>
                </a:solidFill>
              </a:rPr>
              <a:t>24 / 24</a:t>
            </a:r>
          </a:p>
        </p:txBody>
      </p:sp>
    </p:spTree>
    <p:extLst>
      <p:ext uri="{BB962C8B-B14F-4D97-AF65-F5344CB8AC3E}">
        <p14:creationId xmlns:p14="http://schemas.microsoft.com/office/powerpoint/2010/main" val="4037592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2026-07-01T13:02:43.0790000Z</dcterms:created>
  <dcterms:modified xsi:type="dcterms:W3CDTF">2026-07-01T13:02:43.0790000Z</dcterms:modified>
</coreProperties>
</file>